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56"/>
  </p:notesMasterIdLst>
  <p:sldIdLst>
    <p:sldId id="256" r:id="rId2"/>
    <p:sldId id="259" r:id="rId3"/>
    <p:sldId id="274" r:id="rId4"/>
    <p:sldId id="278" r:id="rId5"/>
    <p:sldId id="277" r:id="rId6"/>
    <p:sldId id="260" r:id="rId7"/>
    <p:sldId id="291" r:id="rId8"/>
    <p:sldId id="290" r:id="rId9"/>
    <p:sldId id="266" r:id="rId10"/>
    <p:sldId id="261" r:id="rId11"/>
    <p:sldId id="281" r:id="rId12"/>
    <p:sldId id="309" r:id="rId13"/>
    <p:sldId id="280" r:id="rId14"/>
    <p:sldId id="279" r:id="rId15"/>
    <p:sldId id="282" r:id="rId16"/>
    <p:sldId id="284" r:id="rId17"/>
    <p:sldId id="283" r:id="rId18"/>
    <p:sldId id="286" r:id="rId19"/>
    <p:sldId id="287" r:id="rId20"/>
    <p:sldId id="264" r:id="rId21"/>
    <p:sldId id="263" r:id="rId22"/>
    <p:sldId id="289" r:id="rId23"/>
    <p:sldId id="292" r:id="rId24"/>
    <p:sldId id="293" r:id="rId25"/>
    <p:sldId id="294" r:id="rId26"/>
    <p:sldId id="298" r:id="rId27"/>
    <p:sldId id="275" r:id="rId28"/>
    <p:sldId id="302" r:id="rId29"/>
    <p:sldId id="276" r:id="rId30"/>
    <p:sldId id="303" r:id="rId31"/>
    <p:sldId id="304" r:id="rId32"/>
    <p:sldId id="305" r:id="rId33"/>
    <p:sldId id="312" r:id="rId34"/>
    <p:sldId id="262" r:id="rId35"/>
    <p:sldId id="307" r:id="rId36"/>
    <p:sldId id="308" r:id="rId37"/>
    <p:sldId id="306" r:id="rId38"/>
    <p:sldId id="310" r:id="rId39"/>
    <p:sldId id="311" r:id="rId40"/>
    <p:sldId id="270" r:id="rId41"/>
    <p:sldId id="313" r:id="rId42"/>
    <p:sldId id="269" r:id="rId43"/>
    <p:sldId id="271" r:id="rId44"/>
    <p:sldId id="314" r:id="rId45"/>
    <p:sldId id="268" r:id="rId46"/>
    <p:sldId id="272" r:id="rId47"/>
    <p:sldId id="315" r:id="rId48"/>
    <p:sldId id="273" r:id="rId49"/>
    <p:sldId id="301" r:id="rId50"/>
    <p:sldId id="300" r:id="rId51"/>
    <p:sldId id="317" r:id="rId52"/>
    <p:sldId id="299" r:id="rId53"/>
    <p:sldId id="316" r:id="rId54"/>
    <p:sldId id="257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34" autoAdjust="0"/>
    <p:restoredTop sz="94664"/>
  </p:normalViewPr>
  <p:slideViewPr>
    <p:cSldViewPr snapToGrid="0">
      <p:cViewPr>
        <p:scale>
          <a:sx n="134" d="100"/>
          <a:sy n="134" d="100"/>
        </p:scale>
        <p:origin x="144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6090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3/17/26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3.png"/><Relationship Id="rId4" Type="http://schemas.openxmlformats.org/officeDocument/2006/relationships/image" Target="../media/image4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6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Source Sans Pro"/>
                <a:ea typeface="Source Sans Pro"/>
              </a:rPr>
              <a:t>Rob Lorch </a:t>
            </a:r>
            <a:endParaRPr lang="en-US" dirty="0">
              <a:latin typeface="Aptos" panose="02110004020202020204"/>
              <a:ea typeface="Source Sans Pro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Source Sans Pro"/>
                <a:ea typeface="Source Sans Pro"/>
              </a:rPr>
              <a:t>4/23/26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Content Slide</a:t>
            </a:r>
            <a:endParaRPr lang="en-US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latin typeface="Source Sans Pro"/>
                <a:ea typeface="Source Sans Pro"/>
              </a:rPr>
              <a:t>Content</a:t>
            </a:r>
            <a:endParaRPr lang="en-US">
              <a:latin typeface="Aptos" panose="02110004020202020204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09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Introduction &amp; Motivation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indent="-457200"/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Most of the Internet</a:t>
            </a:r>
            <a:r>
              <a:rPr lang="en-US" dirty="0">
                <a:latin typeface="Source Sans Pro"/>
                <a:ea typeface="Source Sans Pro"/>
              </a:rPr>
              <a:t> runs on layers of security protocols</a:t>
            </a: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DNSSEC </a:t>
            </a:r>
            <a:r>
              <a:rPr lang="en-US" dirty="0">
                <a:latin typeface="Source Sans Pro"/>
                <a:ea typeface="Source Sans Pro"/>
              </a:rPr>
              <a:t>secures URL      IP address mappings; prevents masquerading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300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TLS </a:t>
            </a:r>
            <a:r>
              <a:rPr lang="en-US" sz="2300" dirty="0">
                <a:latin typeface="Source Sans Pro"/>
                <a:ea typeface="Source Sans Pro"/>
              </a:rPr>
              <a:t>promises confidentiality, authenticity, and integrity for application layer</a:t>
            </a:r>
            <a:endParaRPr lang="en-US" sz="23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300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X.509</a:t>
            </a:r>
            <a:r>
              <a:rPr lang="en-US" sz="2300" dirty="0">
                <a:latin typeface="Source Sans Pro"/>
                <a:ea typeface="Source Sans Pro"/>
              </a:rPr>
              <a:t> certificate validation secures public key      identity mappings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300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4G LTE/5G</a:t>
            </a:r>
            <a:r>
              <a:rPr lang="en-US" sz="2300" dirty="0">
                <a:latin typeface="Source Sans Pro"/>
                <a:ea typeface="Source Sans Pro"/>
              </a:rPr>
              <a:t> promises confidentiality and authentication of cellular networks</a:t>
            </a:r>
            <a:endParaRPr lang="en-US" sz="2300" dirty="0">
              <a:latin typeface="Aptos" panose="02110004020202020204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300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Uptane </a:t>
            </a:r>
            <a:r>
              <a:rPr lang="en-US" sz="2300" dirty="0">
                <a:latin typeface="Source Sans Pro"/>
                <a:ea typeface="Source Sans Pro"/>
              </a:rPr>
              <a:t>promises authenticity and integrity of vehicle OTA software updates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300" dirty="0">
                <a:latin typeface="Source Sans Pro"/>
                <a:ea typeface="Source Sans Pro"/>
              </a:rPr>
              <a:t>And many more…</a:t>
            </a:r>
            <a:endParaRPr lang="en-US" sz="23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arrow pointing to the right&#10;&#10;AI-generated content may be incorrect.">
            <a:extLst>
              <a:ext uri="{FF2B5EF4-FFF2-40B4-BE49-F238E27FC236}">
                <a16:creationId xmlns:a16="http://schemas.microsoft.com/office/drawing/2014/main" id="{FAE4E3F3-7E89-2B70-F6A4-B554A5174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52" t="33722" r="25764" b="33958"/>
          <a:stretch>
            <a:fillRect/>
          </a:stretch>
        </p:blipFill>
        <p:spPr>
          <a:xfrm>
            <a:off x="4284469" y="2402234"/>
            <a:ext cx="266169" cy="163539"/>
          </a:xfrm>
          <a:prstGeom prst="rect">
            <a:avLst/>
          </a:prstGeom>
        </p:spPr>
      </p:pic>
      <p:pic>
        <p:nvPicPr>
          <p:cNvPr id="7" name="Picture 6" descr="A black arrow pointing to the right&#10;&#10;AI-generated content may be incorrect.">
            <a:extLst>
              <a:ext uri="{FF2B5EF4-FFF2-40B4-BE49-F238E27FC236}">
                <a16:creationId xmlns:a16="http://schemas.microsoft.com/office/drawing/2014/main" id="{46C7BAC6-E453-4B42-B23B-F16AF3C00A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52" t="33722" r="25764" b="33958"/>
          <a:stretch>
            <a:fillRect/>
          </a:stretch>
        </p:blipFill>
        <p:spPr>
          <a:xfrm>
            <a:off x="7176790" y="3141765"/>
            <a:ext cx="266169" cy="16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711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Introduction &amp; Motivation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0157"/>
            <a:ext cx="10515600" cy="477192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sz="2000">
                <a:latin typeface="Source Sans Pro"/>
                <a:ea typeface="Source Sans Pro"/>
              </a:rPr>
              <a:t>Security protocols are</a:t>
            </a:r>
            <a:r>
              <a:rPr lang="en-US" sz="200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 hard to get right</a:t>
            </a:r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r>
              <a:rPr lang="en-US" sz="2000" dirty="0">
                <a:latin typeface="Source Sans Pro"/>
                <a:ea typeface="Source Sans Pro"/>
              </a:rPr>
              <a:t>Canonical example is the </a:t>
            </a:r>
            <a:r>
              <a:rPr lang="en-US" sz="2000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Needham-Schroeder public key mutual authentication </a:t>
            </a:r>
            <a:r>
              <a:rPr lang="en-US" sz="200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</a:t>
            </a:r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r>
              <a:rPr lang="en-US" sz="2000">
                <a:latin typeface="Source Sans Pro"/>
                <a:ea typeface="Source Sans Pro"/>
              </a:rPr>
              <a:t>Vulnerability went undiscovered for </a:t>
            </a:r>
            <a:r>
              <a:rPr lang="en-US" sz="2000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17 years</a:t>
            </a:r>
            <a:endParaRPr lang="en-US" sz="2000">
              <a:solidFill>
                <a:schemeClr val="accent6">
                  <a:lumMod val="76000"/>
                </a:schemeClr>
              </a:solidFill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sz="18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1878093" y="2663018"/>
            <a:ext cx="7905563" cy="3203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Introduction &amp; Motivation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>
                <a:latin typeface="Source Sans Pro"/>
                <a:ea typeface="Source Sans Pro"/>
              </a:rPr>
              <a:t>Modern protocols are </a:t>
            </a:r>
            <a:r>
              <a:rPr lang="en-US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orders of magnitude more complicated</a:t>
            </a:r>
            <a:r>
              <a:rPr lang="en-US">
                <a:latin typeface="Source Sans Pro"/>
                <a:ea typeface="Source Sans Pro"/>
              </a:rPr>
              <a:t>!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TLS, X.509 certificate validation, 4G/5G LTE, </a:t>
            </a:r>
            <a:r>
              <a:rPr lang="en-US" dirty="0" err="1">
                <a:latin typeface="Source Sans Pro"/>
                <a:ea typeface="Source Sans Pro"/>
              </a:rPr>
              <a:t>Uptane</a:t>
            </a:r>
            <a:r>
              <a:rPr lang="en-US" dirty="0">
                <a:latin typeface="Source Sans Pro"/>
                <a:ea typeface="Source Sans Pro"/>
              </a:rPr>
              <a:t>, Signal messaging, ...</a:t>
            </a:r>
            <a:endParaRPr lang="en-US" dirty="0"/>
          </a:p>
          <a:p>
            <a:r>
              <a:rPr lang="en-US">
                <a:latin typeface="Source Sans Pro"/>
                <a:ea typeface="Source Sans Pro"/>
              </a:rPr>
              <a:t>SOTA security protocol verification is </a:t>
            </a:r>
            <a:r>
              <a:rPr lang="en-US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impressive </a:t>
            </a:r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latin typeface="Source Sans Pro"/>
                <a:ea typeface="Source Sans Pro"/>
              </a:rPr>
              <a:t>Needham-Schroeder (&amp; variants) can be precisely analyzed with full automation (both attacks and proofs of security)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latin typeface="Source Sans Pro"/>
                <a:ea typeface="Source Sans Pro"/>
              </a:rPr>
              <a:t>Modern tools can formally verify protocols like TLS and Signal </a:t>
            </a:r>
          </a:p>
          <a:p>
            <a:r>
              <a:rPr lang="en-US" dirty="0">
                <a:latin typeface="Source Sans Pro"/>
                <a:ea typeface="Source Sans Pro"/>
              </a:rPr>
              <a:t>SOTA security protocol verification has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room for improvement</a:t>
            </a:r>
            <a:r>
              <a:rPr lang="en-US" dirty="0">
                <a:latin typeface="Source Sans Pro"/>
                <a:ea typeface="Source Sans Pro"/>
              </a:rPr>
              <a:t> 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latin typeface="Source Sans Pro"/>
                <a:ea typeface="Source Sans Pro"/>
              </a:rPr>
              <a:t>Biggest verification attempts pioneered by tool developers with </a:t>
            </a:r>
            <a:r>
              <a:rPr lang="en-US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deep knowledge of internals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Approaches that do not rely on expert knowledge </a:t>
            </a:r>
            <a:r>
              <a:rPr lang="en-US">
                <a:solidFill>
                  <a:schemeClr val="accent6">
                    <a:lumMod val="76000"/>
                  </a:schemeClr>
                </a:solidFill>
              </a:rPr>
              <a:t>make other tradeoffs</a:t>
            </a:r>
            <a:r>
              <a:rPr lang="en-US" dirty="0"/>
              <a:t> </a:t>
            </a:r>
            <a:r>
              <a:rPr lang="en-US"/>
              <a:t>(abstraction/refinement techniques compose results from two separate models in different formalisms and rely on manual intervention)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61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Cryptographic protocol verification background</a:t>
            </a:r>
            <a:endParaRPr lang="en-US" dirty="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Threat models and their relationships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Separate sections? Question: what is my goal, and what do I need to get there?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Security properties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Formalization (MSR? Applied pi calculus? Both? One?)</a:t>
            </a:r>
            <a:endParaRPr lang="en-US" sz="2800" dirty="0">
              <a:latin typeface="Source Sans Pro"/>
              <a:ea typeface="Source Sans Pro"/>
            </a:endParaRP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Reasoning techniques</a:t>
            </a:r>
            <a:endParaRPr lang="en-US" sz="2800" dirty="0">
              <a:latin typeface="Source Sans Pro"/>
              <a:ea typeface="Source Sans Pro"/>
            </a:endParaRP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expressive (prior work &amp; open questions)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 (prior work &amp; open questions)</a:t>
            </a:r>
          </a:p>
          <a:p>
            <a:r>
              <a:rPr lang="en-US" dirty="0">
                <a:latin typeface="Source Sans Pro"/>
                <a:ea typeface="Source Sans Pro"/>
              </a:rPr>
              <a:t>Discussion &amp; Conclusion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240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Cryptographic protocol verification background</a:t>
            </a:r>
            <a:endParaRPr lang="en-US" dirty="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Threat models and their relationships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Separate sections? Question: what is my goal, and what do I need to get there?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Security properties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Formalization (MSR? Applied pi calculus? Both? One?)</a:t>
            </a:r>
            <a:endParaRPr lang="en-US" sz="2800" dirty="0">
              <a:latin typeface="Source Sans Pro"/>
              <a:ea typeface="Source Sans Pro"/>
            </a:endParaRP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Reasoning techniques</a:t>
            </a:r>
            <a:endParaRPr lang="en-US" sz="2800" dirty="0">
              <a:latin typeface="Source Sans Pro"/>
              <a:ea typeface="Source Sans Pro"/>
            </a:endParaRP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expressive (prior work &amp; open questions)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 (prior work &amp; open questions)</a:t>
            </a:r>
          </a:p>
          <a:p>
            <a:r>
              <a:rPr lang="en-US" dirty="0">
                <a:latin typeface="Source Sans Pro"/>
                <a:ea typeface="Source Sans Pro"/>
              </a:rPr>
              <a:t>Discussion &amp; Conclusion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Objectives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Mechanize</a:t>
            </a:r>
            <a:r>
              <a:rPr lang="en-US" dirty="0">
                <a:latin typeface="Source Sans Pro"/>
                <a:ea typeface="Source Sans Pro"/>
              </a:rPr>
              <a:t> reasoning about cryptographic protocol security 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</a:t>
            </a:r>
            <a:r>
              <a:rPr lang="en-US" dirty="0">
                <a:latin typeface="Source Sans Pro"/>
                <a:ea typeface="Source Sans Pro"/>
              </a:rPr>
              <a:t> reasoning about cryptographic protocol security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Proofs of security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Attack traces to witness insecurity</a:t>
            </a:r>
          </a:p>
          <a:p>
            <a:r>
              <a:rPr lang="en-US" dirty="0">
                <a:latin typeface="Source Sans Pro"/>
                <a:ea typeface="Source Sans Pro"/>
              </a:rPr>
              <a:t>Ideally, reason in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unbounded setting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Cryptographic protocol verification background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Threat models and their relationships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Security properties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Formalization</a:t>
            </a:r>
            <a:endParaRPr lang="en-US" b="1" dirty="0">
              <a:solidFill>
                <a:schemeClr val="accent6">
                  <a:lumMod val="76000"/>
                </a:schemeClr>
              </a:solidFill>
            </a:endParaRP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expressive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 &amp; Conclusion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roles</a:t>
            </a:r>
            <a:r>
              <a:rPr lang="en-US" dirty="0">
                <a:latin typeface="Source Sans Pro"/>
                <a:ea typeface="Source Sans Pro"/>
              </a:rPr>
              <a:t>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primitives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35EF69-6110-6416-D067-99A8BC37A0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8187" y="2525676"/>
            <a:ext cx="8952802" cy="353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590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adversary</a:t>
            </a:r>
            <a:r>
              <a:rPr lang="en-US" dirty="0">
                <a:latin typeface="Source Sans Pro"/>
                <a:ea typeface="Source Sans Pro"/>
              </a:rPr>
              <a:t>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adversary</a:t>
            </a:r>
            <a:r>
              <a:rPr lang="en-US" dirty="0">
                <a:latin typeface="Source Sans Pro"/>
                <a:ea typeface="Source Sans Pro"/>
              </a:rPr>
              <a:t>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2784764" y="2506504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A34AC-27F3-CD0D-E848-8BF6AC7C5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adversary</a:t>
            </a:r>
            <a:r>
              <a:rPr lang="en-US" dirty="0">
                <a:latin typeface="Source Sans Pro"/>
                <a:ea typeface="Source Sans Pro"/>
              </a:rPr>
              <a:t>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27087-FD87-5AB3-73B7-41F5F42E2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000000"/>
                </a:solidFill>
                <a:latin typeface="Source Sans Pro"/>
                <a:ea typeface="Source Sans Pro"/>
              </a:rPr>
              <a:t>Cryptographic </a:t>
            </a:r>
            <a:r>
              <a:rPr lang="en-US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 </a:t>
            </a:r>
            <a:r>
              <a:rPr lang="en-US">
                <a:solidFill>
                  <a:srgbClr val="000000"/>
                </a:solidFill>
                <a:latin typeface="Source Sans Pro"/>
                <a:ea typeface="Source Sans Pro"/>
              </a:rPr>
              <a:t>vs </a:t>
            </a:r>
            <a:r>
              <a:rPr lang="en-US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primitive</a:t>
            </a: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01777698-7B5C-C18A-E8C8-5DCEEE8F3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49116" y="2516605"/>
            <a:ext cx="8952802" cy="353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583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2D9A8-3B2C-4B2C-BDD9-3B75007AD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0BA38A-6F1B-F268-C2CE-A682BBAF9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/>
                    <a:ea typeface="Source Sans Pro"/>
                  </a:rPr>
                  <a:t>How to define security for a cryptographic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primitive</a:t>
                </a:r>
                <a:r>
                  <a:rPr lang="en-US" dirty="0"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Consider symmetric key encryption and decryption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Three functions: 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𝐺𝑒𝑛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: 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1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m:rPr>
                            <m:lit/>
                          </m:r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}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                                    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𝐸𝑛𝑐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𝑀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× 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→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endParaRPr lang="en-US" sz="2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457200" lvl="1" indent="0">
                  <a:buNone/>
                </a:pPr>
                <a:r>
                  <a:rPr lang="en-US" sz="2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                              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𝐷𝑒𝑐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: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× 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𝑀</m:t>
                    </m:r>
                  </m:oMath>
                </a14:m>
                <a:endParaRPr lang="en-US" sz="2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Well-formedness requirement: 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𝐷𝑒𝑐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𝐸𝑛𝑐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𝑚</m:t>
                            </m:r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 </m:t>
                            </m:r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solidFill>
                    <a:srgbClr val="3B7F23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0BA38A-6F1B-F268-C2CE-A682BBAF9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498D42-F0FF-59C1-8212-5270F8941211}"/>
                  </a:ext>
                </a:extLst>
              </p:cNvPr>
              <p:cNvSpPr txBox="1"/>
              <p:nvPr/>
            </p:nvSpPr>
            <p:spPr>
              <a:xfrm>
                <a:off x="3405309" y="4447309"/>
                <a:ext cx="69831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Source Sans Pro"/>
                    <a:ea typeface="Source Sans Pro"/>
                  </a:rPr>
                  <a:t>Typically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  <a:ea typeface="Source Sans Pro"/>
                      </a:rPr>
                      <m:t>𝑀</m:t>
                    </m:r>
                  </m:oMath>
                </a14:m>
                <a:r>
                  <a:rPr lang="en-US" sz="28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800" dirty="0">
                    <a:latin typeface="Source Sans Pro"/>
                    <a:ea typeface="Source Sans Pro"/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800" dirty="0">
                    <a:latin typeface="Source Sans Pro"/>
                    <a:ea typeface="Source Sans Pro"/>
                  </a:rPr>
                  <a:t> are all sets of bit strings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498D42-F0FF-59C1-8212-5270F8941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309" y="4447309"/>
                <a:ext cx="6983194" cy="523220"/>
              </a:xfrm>
              <a:prstGeom prst="rect">
                <a:avLst/>
              </a:prstGeom>
              <a:blipFill>
                <a:blip r:embed="rId3"/>
                <a:stretch>
                  <a:fillRect l="-1818" t="-11905" r="-909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C1D01-275B-5B1A-5B4C-BF551167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</a:t>
            </a:r>
            <a:r>
              <a:rPr lang="en-US" dirty="0">
                <a:latin typeface="Source Sans Pro"/>
                <a:ea typeface="Source Sans Pro"/>
              </a:rPr>
              <a:t>?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Define a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protocol-level</a:t>
            </a:r>
            <a:r>
              <a:rPr lang="en-US" dirty="0">
                <a:latin typeface="Source Sans Pro"/>
                <a:ea typeface="Source Sans Pro"/>
              </a:rPr>
              <a:t> game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Assume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primitives are secure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Consider a simple protocol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7889" y="3767758"/>
            <a:ext cx="4336222" cy="262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C1D01-275B-5B1A-5B4C-BF551167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Protocols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EE72D8-3650-8C68-6BCA-AD446BEAB6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89235"/>
                <a:ext cx="10515600" cy="4869374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>
                  <a:buAutoNum type="arabicPeriod"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3B7F23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3B7F23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3B7F23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600" dirty="0"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Assume </a:t>
                </a:r>
                <a:r>
                  <a:rPr lang="en-US" sz="2000" dirty="0" err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sr_enc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(.,.,.) </a:t>
                </a:r>
                <a:r>
                  <a:rPr lang="en-US" sz="2000" dirty="0">
                    <a:latin typeface="Source Sans Pro"/>
                    <a:ea typeface="Source Sans Pro"/>
                  </a:rPr>
                  <a:t>is IND-CPA secure</a:t>
                </a: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Assume 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h(.) </a:t>
                </a:r>
                <a:r>
                  <a:rPr lang="en-US" sz="2000" dirty="0">
                    <a:latin typeface="Source Sans Pro"/>
                    <a:ea typeface="Source Sans Pro"/>
                  </a:rPr>
                  <a:t>is a collision-resistant, one-way function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Lift IND-CPA security game to the pair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_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h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Adversary can pick 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Adversary guesses which was chosen by computing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h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h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comparing to the second element of the pair</a:t>
                </a:r>
                <a:endParaRPr lang="en-US" sz="26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EE72D8-3650-8C68-6BCA-AD446BEAB6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89235"/>
                <a:ext cx="10515600" cy="4869374"/>
              </a:xfrm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81EF2E-80FF-098B-19B3-5E97521D0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4093" y="1671169"/>
            <a:ext cx="43434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761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6DC7621-64B0-7AA6-7D9A-F97C8F618AAB}"/>
              </a:ext>
            </a:extLst>
          </p:cNvPr>
          <p:cNvSpPr/>
          <p:nvPr/>
        </p:nvSpPr>
        <p:spPr>
          <a:xfrm>
            <a:off x="951263" y="5444918"/>
            <a:ext cx="10515600" cy="44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BC1D01-275B-5B1A-5B4C-BF551167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263" y="1905139"/>
            <a:ext cx="10515600" cy="486937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i="1" dirty="0">
                <a:latin typeface="Source Sans Pro"/>
                <a:ea typeface="Source Sans Pro"/>
              </a:rPr>
              <a:t>Secure primitives do not necessarily imply a secure protocol</a:t>
            </a:r>
          </a:p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From now on, we assume primitives are secure and focus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protocol verification</a:t>
            </a:r>
          </a:p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Primitives can be analyzed separately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7682" y="1796110"/>
            <a:ext cx="4336222" cy="262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47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A2DFB-629B-B633-078F-9B100D6F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92418-F66A-8937-E85D-04EB60050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How to make reasoning easier?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FFBEF-3548-B961-3FD8-7CC3479BE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Remember our goal: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mechanize &amp; automate reasoning</a:t>
            </a:r>
          </a:p>
          <a:p>
            <a:r>
              <a:rPr lang="en-US" dirty="0">
                <a:latin typeface="Source Sans Pro"/>
                <a:ea typeface="Source Sans Pro"/>
              </a:rPr>
              <a:t>Prior work mechanizes reasoning about cryptographic protocols with cryptographic games</a:t>
            </a:r>
          </a:p>
          <a:p>
            <a:r>
              <a:rPr lang="en-US" dirty="0">
                <a:latin typeface="Source Sans Pro"/>
                <a:ea typeface="Source Sans Pro"/>
              </a:rPr>
              <a:t>Reasoning about cryptographic games (and their compositions) is currently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too difficult to effectively automate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F912A2-0C65-765E-9900-A40ECCA64BC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070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69049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Computational model 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Closely follows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mathematical cryptography 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Adversaries are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probabilistic polynomial time (PPT) Turing machines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Symbolic model </a:t>
            </a:r>
            <a:r>
              <a:rPr lang="en-US" sz="2400" dirty="0">
                <a:latin typeface="Source Sans Pro"/>
                <a:ea typeface="Source Sans Pro"/>
              </a:rPr>
              <a:t>(a.k.a. </a:t>
            </a:r>
            <a:r>
              <a:rPr lang="en-US" sz="2400" dirty="0" err="1">
                <a:latin typeface="Source Sans Pro"/>
                <a:ea typeface="Source Sans Pro"/>
              </a:rPr>
              <a:t>Dolev</a:t>
            </a:r>
            <a:r>
              <a:rPr lang="en-US" sz="2400" dirty="0">
                <a:latin typeface="Source Sans Pro"/>
                <a:ea typeface="Source Sans Pro"/>
              </a:rPr>
              <a:t>-Yao model)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Assumes primitives are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perfectly secure 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Considers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non-probabilistic (often weaker) security properties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Adversary can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drop and inject arbitrary messages</a:t>
            </a:r>
            <a:r>
              <a:rPr lang="en-US" sz="2000" dirty="0">
                <a:latin typeface="Source Sans Pro"/>
                <a:ea typeface="Source Sans Pro"/>
              </a:rPr>
              <a:t> </a:t>
            </a:r>
            <a:r>
              <a:rPr lang="en-US" sz="2000" i="1" dirty="0">
                <a:latin typeface="Source Sans Pro"/>
                <a:ea typeface="Source Sans Pro"/>
              </a:rPr>
              <a:t>respecting cryptographic assumptions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Useful in practice!</a:t>
            </a: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796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233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1" y="2583819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Source Sans Pro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238269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Source Sans Pro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Source Sans Pro"/>
                <a:ea typeface="Source Sans Pro"/>
              </a:rPr>
              <a:t>Non-polynomial computation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Principals communicate with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symbolic terms </a:t>
                </a:r>
                <a:r>
                  <a:rPr lang="en-US" dirty="0">
                    <a:latin typeface="Source Sans Pro"/>
                    <a:ea typeface="Source Sans Pro"/>
                  </a:rPr>
                  <a:t>rather than bit strings (as in computational model)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Consider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constructor symbols</a:t>
                </a:r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destructor symbols</a:t>
                </a:r>
                <a:endParaRPr lang="en-US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∷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×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 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.,.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∷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×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∷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×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∷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∷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𝑚𝑠𝑔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}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Consider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variables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data items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(e.g. nonces, identities)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From these ingredients, we can build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terms</a:t>
                </a:r>
                <a:r>
                  <a:rPr lang="en-US" dirty="0">
                    <a:latin typeface="Source Sans Pro"/>
                    <a:ea typeface="Source Sans Pro"/>
                  </a:rPr>
                  <a:t>: 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5417295"/>
                <a:ext cx="1219199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𝑑𝑒𝑐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5417295"/>
                <a:ext cx="12191999" cy="8309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38670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Adversary can drop and inject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respecting cryptographic assumptions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want to track whether a term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computable by the adversary </a:t>
                </a:r>
                <a:r>
                  <a:rPr lang="en-US" sz="2400" dirty="0">
                    <a:latin typeface="Source Sans Pro"/>
                    <a:ea typeface="Source Sans Pro"/>
                  </a:rPr>
                  <a:t>(i.e.,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inductively define </a:t>
                </a:r>
                <a:r>
                  <a:rPr lang="en-US" sz="2400" dirty="0">
                    <a:latin typeface="Source Sans Pro"/>
                    <a:ea typeface="Source Sans Pro"/>
                  </a:rPr>
                  <a:t>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386702"/>
              </a:xfrm>
              <a:blipFill>
                <a:blip r:embed="rId2"/>
                <a:stretch>
                  <a:fillRect l="-844" t="-6364" b="-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38670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Adversary can drop and inject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respecting cryptographic assumptions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want to track whether a term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computable by the adversary </a:t>
                </a:r>
                <a:r>
                  <a:rPr lang="en-US" sz="2400" dirty="0">
                    <a:latin typeface="Source Sans Pro"/>
                    <a:ea typeface="Source Sans Pro"/>
                  </a:rPr>
                  <a:t>(i.e.,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inductively define </a:t>
                </a:r>
                <a:r>
                  <a:rPr lang="en-US" sz="2400" dirty="0">
                    <a:latin typeface="Source Sans Pro"/>
                    <a:ea typeface="Source Sans Pro"/>
                  </a:rPr>
                  <a:t>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386702"/>
              </a:xfrm>
              <a:blipFill>
                <a:blip r:embed="rId2"/>
                <a:stretch>
                  <a:fillRect l="-844" t="-6364" b="-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38670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Adversary can drop and inject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respecting cryptographic assumptions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want to track whether a term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computable by the adversary </a:t>
                </a:r>
                <a:r>
                  <a:rPr lang="en-US" sz="2400" dirty="0">
                    <a:latin typeface="Source Sans Pro"/>
                    <a:ea typeface="Source Sans Pro"/>
                  </a:rPr>
                  <a:t>(i.e.,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inductively define </a:t>
                </a:r>
                <a:r>
                  <a:rPr lang="en-US" sz="2400" dirty="0">
                    <a:latin typeface="Source Sans Pro"/>
                    <a:ea typeface="Source Sans Pro"/>
                  </a:rPr>
                  <a:t>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386702"/>
              </a:xfrm>
              <a:blipFill>
                <a:blip r:embed="rId2"/>
                <a:stretch>
                  <a:fillRect l="-844" t="-6364" b="-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-1634249" y="3861286"/>
                <a:ext cx="196353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634249" y="3861286"/>
                <a:ext cx="19635338" cy="461665"/>
              </a:xfrm>
              <a:prstGeom prst="rect">
                <a:avLst/>
              </a:prstGeom>
              <a:blipFill>
                <a:blip r:embed="rId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38670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Adversary can drop and inject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respecting cryptographic assumptions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want to track whether a term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computable by the adversary </a:t>
                </a:r>
                <a:r>
                  <a:rPr lang="en-US" sz="2400" dirty="0">
                    <a:latin typeface="Source Sans Pro"/>
                    <a:ea typeface="Source Sans Pro"/>
                  </a:rPr>
                  <a:t>(i.e.,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inductively define </a:t>
                </a:r>
                <a:r>
                  <a:rPr lang="en-US" sz="2400" dirty="0">
                    <a:latin typeface="Source Sans Pro"/>
                    <a:ea typeface="Source Sans Pro"/>
                  </a:rPr>
                  <a:t>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386702"/>
              </a:xfrm>
              <a:blipFill>
                <a:blip r:embed="rId2"/>
                <a:stretch>
                  <a:fillRect l="-844" t="-6364" b="-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In general, the two main approaches are based on </a:t>
            </a:r>
            <a:r>
              <a:rPr lang="en-US" dirty="0">
                <a:latin typeface="Source Sans Pro"/>
                <a:ea typeface="Source Sans Pro"/>
                <a:cs typeface="+mn-lt"/>
              </a:rPr>
              <a:t>the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  <a:cs typeface="+mn-lt"/>
              </a:rPr>
              <a:t>applied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Aptos"/>
                <a:ea typeface="Source Sans Pro"/>
              </a:rPr>
              <a:t>π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-calculus </a:t>
            </a:r>
            <a:r>
              <a:rPr lang="en-US" dirty="0">
                <a:latin typeface="Source Sans Pro"/>
                <a:ea typeface="Source Sans Pro"/>
              </a:rPr>
              <a:t>and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multiset rewriting</a:t>
            </a:r>
          </a:p>
          <a:p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In this talk, for clarity of presentation we focus only on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multiset rewriting</a:t>
            </a: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 (the applied </a:t>
            </a:r>
            <a:r>
              <a:rPr lang="en-US" dirty="0">
                <a:solidFill>
                  <a:srgbClr val="000000"/>
                </a:solidFill>
                <a:latin typeface="Aptos"/>
                <a:ea typeface="Source Sans Pro"/>
              </a:rPr>
              <a:t>π</a:t>
            </a: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-calculus is discussed in the report)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Trace properties vs 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Safety vs liveness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Property specification language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Order-sorted FOL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All predicates are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𝐹𝑎𝑐𝑡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Brief overview of semantics (satisfaction relation and interesting case)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Weak secrecy</a:t>
                </a:r>
                <a:r>
                  <a:rPr lang="en-US" dirty="0">
                    <a:latin typeface="Source Sans Pro"/>
                    <a:ea typeface="Source Sans Pro"/>
                  </a:rPr>
                  <a:t>: No secret term appears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received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𝑆𝑒𝑛𝑡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Injective agreement</a:t>
                </a:r>
                <a:r>
                  <a:rPr lang="en-US" dirty="0">
                    <a:latin typeface="Source Sans Pro"/>
                    <a:ea typeface="Source Sans Pro"/>
                  </a:rPr>
                  <a:t>: There is an injective mapping between data items received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and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086" t="-2057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71106" y="5186126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2382761" y="5244797"/>
                <a:ext cx="7034201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2761" y="5244797"/>
                <a:ext cx="7034201" cy="954107"/>
              </a:xfrm>
              <a:prstGeom prst="rect">
                <a:avLst/>
              </a:prstGeom>
              <a:blipFill>
                <a:blip r:embed="rId3"/>
                <a:stretch>
                  <a:fillRect b="-15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Injective agreement</a:t>
                </a:r>
                <a:r>
                  <a:rPr lang="en-US" dirty="0">
                    <a:latin typeface="Source Sans Pro"/>
                    <a:ea typeface="Source Sans Pro"/>
                  </a:rPr>
                  <a:t>: There is an injective mapping between data items received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and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086" t="-2888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366645" cy="2316606"/>
            <a:chOff x="4062519" y="4419020"/>
            <a:chExt cx="3366645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Source Sans Pro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5488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Source Sans Pro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7151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71512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71512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7151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582B76-80D0-C233-A48D-FDEF0CF9A23C}"/>
              </a:ext>
            </a:extLst>
          </p:cNvPr>
          <p:cNvSpPr txBox="1"/>
          <p:nvPr/>
        </p:nvSpPr>
        <p:spPr>
          <a:xfrm>
            <a:off x="7951443" y="4383976"/>
            <a:ext cx="1080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Sent by 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17C6F7-E02E-D396-6F48-EA3FE8518D99}"/>
              </a:ext>
            </a:extLst>
          </p:cNvPr>
          <p:cNvSpPr txBox="1"/>
          <p:nvPr/>
        </p:nvSpPr>
        <p:spPr>
          <a:xfrm>
            <a:off x="9691502" y="4383974"/>
            <a:ext cx="154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Accepted by B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8753F42-680F-2EE0-AA73-61AC7E3D7335}"/>
              </a:ext>
            </a:extLst>
          </p:cNvPr>
          <p:cNvCxnSpPr>
            <a:cxnSpLocks/>
            <a:stCxn id="65" idx="6"/>
            <a:endCxn id="67" idx="2"/>
          </p:cNvCxnSpPr>
          <p:nvPr/>
        </p:nvCxnSpPr>
        <p:spPr>
          <a:xfrm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9ED33E4-E40E-069B-508B-0D50B2D71545}"/>
              </a:ext>
            </a:extLst>
          </p:cNvPr>
          <p:cNvCxnSpPr>
            <a:cxnSpLocks/>
          </p:cNvCxnSpPr>
          <p:nvPr/>
        </p:nvCxnSpPr>
        <p:spPr>
          <a:xfrm flipV="1">
            <a:off x="9442131" y="5789261"/>
            <a:ext cx="745502" cy="350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5874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Diff equivalence</a:t>
            </a:r>
            <a:r>
              <a:rPr lang="en-US" dirty="0">
                <a:latin typeface="Source Sans Pro"/>
                <a:ea typeface="Source Sans Pro"/>
              </a:rPr>
              <a:t>: Two protocols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diff equivalent </a:t>
            </a:r>
            <a:r>
              <a:rPr lang="en-US" dirty="0">
                <a:latin typeface="Source Sans Pro"/>
                <a:ea typeface="Source Sans Pro"/>
              </a:rPr>
              <a:t>if …</a:t>
            </a:r>
            <a:endParaRPr lang="en-US" dirty="0">
              <a:latin typeface="Aptos" panose="02110004020202020204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7491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Threat models and their relationships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Security properties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Formalization</a:t>
            </a:r>
            <a:endParaRPr lang="en-US" dirty="0"/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expressive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 &amp; Conclusion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Needham-Schroeder Public Key Protocol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838200" y="3539959"/>
                <a:ext cx="24609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Source Sans Pro"/>
                    <a:ea typeface="Source Sans Pro"/>
                  </a:rPr>
                  <a:t>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39959"/>
                <a:ext cx="2460930" cy="369332"/>
              </a:xfrm>
              <a:prstGeom prst="rect">
                <a:avLst/>
              </a:prstGeom>
              <a:blipFill>
                <a:blip r:embed="rId4"/>
                <a:stretch>
                  <a:fillRect l="-2577" t="-6667" r="-206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7604BFF-A9EF-FD0A-790A-37B67C57C4E5}"/>
                  </a:ext>
                </a:extLst>
              </p:cNvPr>
              <p:cNvSpPr txBox="1"/>
              <p:nvPr/>
            </p:nvSpPr>
            <p:spPr>
              <a:xfrm>
                <a:off x="838200" y="3991801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Source Sans Pro"/>
                      </a:rPr>
                      <m:t>𝐼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cannot decrypt, only forward…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7604BFF-A9EF-FD0A-790A-37B67C57C4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991801"/>
                <a:ext cx="2958959" cy="646331"/>
              </a:xfrm>
              <a:prstGeom prst="rect">
                <a:avLst/>
              </a:prstGeom>
              <a:blipFill>
                <a:blip r:embed="rId5"/>
                <a:stretch>
                  <a:fillRect l="-2137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838200" y="4686876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Source Sans Pro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86876"/>
                <a:ext cx="2958959" cy="646331"/>
              </a:xfrm>
              <a:prstGeom prst="rect">
                <a:avLst/>
              </a:prstGeom>
              <a:blipFill>
                <a:blip r:embed="rId6"/>
                <a:stretch>
                  <a:fillRect l="-2137" t="-576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838200" y="539489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Source Sans Pro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⟩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 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394893"/>
                <a:ext cx="2958959" cy="646331"/>
              </a:xfrm>
              <a:prstGeom prst="rect">
                <a:avLst/>
              </a:prstGeom>
              <a:blipFill>
                <a:blip r:embed="rId7"/>
                <a:stretch>
                  <a:fillRect l="-2137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AAC462-8709-2CAB-D1F7-BCC4A3A87B09}"/>
                  </a:ext>
                </a:extLst>
              </p:cNvPr>
              <p:cNvSpPr txBox="1"/>
              <p:nvPr/>
            </p:nvSpPr>
            <p:spPr>
              <a:xfrm>
                <a:off x="951263" y="1728137"/>
                <a:ext cx="35658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AAC462-8709-2CAB-D1F7-BCC4A3A87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1728137"/>
                <a:ext cx="3565848" cy="369332"/>
              </a:xfrm>
              <a:prstGeom prst="rect">
                <a:avLst/>
              </a:prstGeom>
              <a:blipFill>
                <a:blip r:embed="rId8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8046E1-19AE-DB7A-2A78-96F46482540C}"/>
                  </a:ext>
                </a:extLst>
              </p:cNvPr>
              <p:cNvSpPr txBox="1"/>
              <p:nvPr/>
            </p:nvSpPr>
            <p:spPr>
              <a:xfrm>
                <a:off x="4517110" y="1728137"/>
                <a:ext cx="36416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8046E1-19AE-DB7A-2A78-96F46482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7110" y="1728137"/>
                <a:ext cx="3641638" cy="369332"/>
              </a:xfrm>
              <a:prstGeom prst="rect">
                <a:avLst/>
              </a:prstGeom>
              <a:blipFill>
                <a:blip r:embed="rId9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F193A4-F59C-AB97-8066-99AC76F93C45}"/>
                  </a:ext>
                </a:extLst>
              </p:cNvPr>
              <p:cNvSpPr txBox="1"/>
              <p:nvPr/>
            </p:nvSpPr>
            <p:spPr>
              <a:xfrm>
                <a:off x="8265864" y="1728137"/>
                <a:ext cx="318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F193A4-F59C-AB97-8066-99AC76F93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5864" y="1728137"/>
                <a:ext cx="3181127" cy="369332"/>
              </a:xfrm>
              <a:prstGeom prst="rect">
                <a:avLst/>
              </a:prstGeom>
              <a:blipFill>
                <a:blip r:embed="rId10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838200" y="2827028"/>
            <a:ext cx="7497507" cy="34098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08582E-01FA-FD95-F368-79D76573B791}"/>
                  </a:ext>
                </a:extLst>
              </p:cNvPr>
              <p:cNvSpPr txBox="1"/>
              <p:nvPr/>
            </p:nvSpPr>
            <p:spPr>
              <a:xfrm>
                <a:off x="951263" y="1728137"/>
                <a:ext cx="35658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08582E-01FA-FD95-F368-79D76573B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1728137"/>
                <a:ext cx="3565848" cy="369332"/>
              </a:xfrm>
              <a:prstGeom prst="rect">
                <a:avLst/>
              </a:prstGeom>
              <a:blipFill>
                <a:blip r:embed="rId4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685A1B-0335-A39A-55B3-80572169DC60}"/>
                  </a:ext>
                </a:extLst>
              </p:cNvPr>
              <p:cNvSpPr txBox="1"/>
              <p:nvPr/>
            </p:nvSpPr>
            <p:spPr>
              <a:xfrm>
                <a:off x="4517110" y="1728137"/>
                <a:ext cx="36416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685A1B-0335-A39A-55B3-80572169D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7110" y="1728137"/>
                <a:ext cx="3641638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B88C85-915A-1C44-215B-4B09A568FE38}"/>
                  </a:ext>
                </a:extLst>
              </p:cNvPr>
              <p:cNvSpPr txBox="1"/>
              <p:nvPr/>
            </p:nvSpPr>
            <p:spPr>
              <a:xfrm>
                <a:off x="8265864" y="1728137"/>
                <a:ext cx="318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B88C85-915A-1C44-215B-4B09A568F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5864" y="1728137"/>
                <a:ext cx="3181127" cy="369332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951263" y="2194957"/>
            <a:ext cx="5783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The attack does not actually work yet… (key compromise)</a:t>
            </a:r>
          </a:p>
        </p:txBody>
      </p:sp>
    </p:spTree>
    <p:extLst>
      <p:ext uri="{BB962C8B-B14F-4D97-AF65-F5344CB8AC3E}">
        <p14:creationId xmlns:p14="http://schemas.microsoft.com/office/powerpoint/2010/main" val="21367003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Needham-Schroeder Public Key Protocol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4D4388-86DE-04F0-3360-B41887727197}"/>
                  </a:ext>
                </a:extLst>
              </p:cNvPr>
              <p:cNvSpPr txBox="1"/>
              <p:nvPr/>
            </p:nvSpPr>
            <p:spPr>
              <a:xfrm>
                <a:off x="2015701" y="5169962"/>
                <a:ext cx="49405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Source Sans Pro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⟩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 prevents the attack.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4D4388-86DE-04F0-3360-B41887727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5701" y="5169962"/>
                <a:ext cx="4940580" cy="369332"/>
              </a:xfrm>
              <a:prstGeom prst="rect">
                <a:avLst/>
              </a:prstGeom>
              <a:blipFill>
                <a:blip r:embed="rId2"/>
                <a:stretch>
                  <a:fillRect l="-1026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0" t="451" r="1260" b="301"/>
          <a:stretch>
            <a:fillRect/>
          </a:stretch>
        </p:blipFill>
        <p:spPr>
          <a:xfrm>
            <a:off x="1580991" y="1966673"/>
            <a:ext cx="7905563" cy="320328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2714072" y="3868102"/>
            <a:ext cx="840011" cy="350216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CE2DBD6-6C45-4D2F-4160-D11CF87EA503}"/>
                  </a:ext>
                </a:extLst>
              </p:cNvPr>
              <p:cNvSpPr txBox="1"/>
              <p:nvPr/>
            </p:nvSpPr>
            <p:spPr>
              <a:xfrm>
                <a:off x="2015701" y="5539294"/>
                <a:ext cx="49405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⟨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Source Sans Pro"/>
                      </a:rPr>
                      <m:t>⟩⟩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?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CE2DBD6-6C45-4D2F-4160-D11CF87EA5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5701" y="5539294"/>
                <a:ext cx="4940580" cy="369332"/>
              </a:xfrm>
              <a:prstGeom prst="rect">
                <a:avLst/>
              </a:prstGeom>
              <a:blipFill>
                <a:blip r:embed="rId4"/>
                <a:stretch>
                  <a:fillRect l="-1026" t="-10000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08582E-01FA-FD95-F368-79D76573B791}"/>
                  </a:ext>
                </a:extLst>
              </p:cNvPr>
              <p:cNvSpPr txBox="1"/>
              <p:nvPr/>
            </p:nvSpPr>
            <p:spPr>
              <a:xfrm>
                <a:off x="951263" y="1728137"/>
                <a:ext cx="35658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08582E-01FA-FD95-F368-79D76573B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1728137"/>
                <a:ext cx="3565848" cy="369332"/>
              </a:xfrm>
              <a:prstGeom prst="rect">
                <a:avLst/>
              </a:prstGeom>
              <a:blipFill>
                <a:blip r:embed="rId3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685A1B-0335-A39A-55B3-80572169DC60}"/>
                  </a:ext>
                </a:extLst>
              </p:cNvPr>
              <p:cNvSpPr txBox="1"/>
              <p:nvPr/>
            </p:nvSpPr>
            <p:spPr>
              <a:xfrm>
                <a:off x="4364710" y="1728137"/>
                <a:ext cx="41047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685A1B-0335-A39A-55B3-80572169D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4710" y="1728137"/>
                <a:ext cx="4104713" cy="369332"/>
              </a:xfrm>
              <a:prstGeom prst="rect">
                <a:avLst/>
              </a:prstGeom>
              <a:blipFill>
                <a:blip r:embed="rId4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B88C85-915A-1C44-215B-4B09A568FE38}"/>
                  </a:ext>
                </a:extLst>
              </p:cNvPr>
              <p:cNvSpPr txBox="1"/>
              <p:nvPr/>
            </p:nvSpPr>
            <p:spPr>
              <a:xfrm>
                <a:off x="8265864" y="1728137"/>
                <a:ext cx="318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B88C85-915A-1C44-215B-4B09A568F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5864" y="1728137"/>
                <a:ext cx="3181127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72383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Response is confused as an  initiation!</a:t>
            </a:r>
          </a:p>
        </p:txBody>
      </p:sp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08582E-01FA-FD95-F368-79D76573B791}"/>
                  </a:ext>
                </a:extLst>
              </p:cNvPr>
              <p:cNvSpPr txBox="1"/>
              <p:nvPr/>
            </p:nvSpPr>
            <p:spPr>
              <a:xfrm>
                <a:off x="951263" y="1728137"/>
                <a:ext cx="35658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08582E-01FA-FD95-F368-79D76573B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1728137"/>
                <a:ext cx="3565848" cy="369332"/>
              </a:xfrm>
              <a:prstGeom prst="rect">
                <a:avLst/>
              </a:prstGeom>
              <a:blipFill>
                <a:blip r:embed="rId3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685A1B-0335-A39A-55B3-80572169DC60}"/>
                  </a:ext>
                </a:extLst>
              </p:cNvPr>
              <p:cNvSpPr txBox="1"/>
              <p:nvPr/>
            </p:nvSpPr>
            <p:spPr>
              <a:xfrm>
                <a:off x="4364710" y="1728137"/>
                <a:ext cx="41047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685A1B-0335-A39A-55B3-80572169D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4710" y="1728137"/>
                <a:ext cx="4104713" cy="369332"/>
              </a:xfrm>
              <a:prstGeom prst="rect">
                <a:avLst/>
              </a:prstGeom>
              <a:blipFill>
                <a:blip r:embed="rId4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B88C85-915A-1C44-215B-4B09A568FE38}"/>
                  </a:ext>
                </a:extLst>
              </p:cNvPr>
              <p:cNvSpPr txBox="1"/>
              <p:nvPr/>
            </p:nvSpPr>
            <p:spPr>
              <a:xfrm>
                <a:off x="8265864" y="1728137"/>
                <a:ext cx="318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B88C85-915A-1C44-215B-4B09A568F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5864" y="1728137"/>
                <a:ext cx="3181127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56CCC7C4-D8A2-AAE6-51A0-EF613A832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141537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First and second message are unifiable (not so with the triple)</a:t>
            </a:r>
          </a:p>
          <a:p>
            <a:r>
              <a:rPr lang="en-US" dirty="0">
                <a:latin typeface="Source Sans Pro"/>
                <a:ea typeface="Source Sans Pro"/>
              </a:rPr>
              <a:t>With more typing information, they do not unify with a well-typed unifier</a:t>
            </a:r>
          </a:p>
          <a:p>
            <a:r>
              <a:rPr lang="en-US" dirty="0">
                <a:latin typeface="Source Sans Pro"/>
                <a:ea typeface="Source Sans Pro"/>
              </a:rPr>
              <a:t>Is this a design-level bug or a parsing bug?</a:t>
            </a:r>
          </a:p>
          <a:p>
            <a:r>
              <a:rPr lang="en-US" dirty="0">
                <a:latin typeface="Source Sans Pro"/>
                <a:ea typeface="Source Sans Pro"/>
              </a:rPr>
              <a:t>Maybe give a Tamarin encoding that rules out the type confusion aspect with an explicit sort annotation on N_A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endParaRPr lang="en-US" dirty="0">
              <a:latin typeface="Source Sans Pro"/>
              <a:ea typeface="Source Sans Pro"/>
            </a:endParaRP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Threat models and their relationships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Security properties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Formalization</a:t>
            </a:r>
            <a:endParaRPr lang="en-US" dirty="0"/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(prior work &amp; open questions)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 (prior work &amp; open questions)</a:t>
            </a:r>
          </a:p>
          <a:p>
            <a:r>
              <a:rPr lang="en-US" dirty="0">
                <a:latin typeface="Source Sans Pro"/>
                <a:ea typeface="Source Sans Pro"/>
              </a:rPr>
              <a:t>Discussion &amp; Conclusion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3686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Cryptographic protocol verification background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Threat models and their relationships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Security properties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Formalization</a:t>
            </a:r>
            <a:endParaRPr lang="en-US" b="1" dirty="0">
              <a:solidFill>
                <a:schemeClr val="accent6">
                  <a:lumMod val="76000"/>
                </a:schemeClr>
              </a:solidFill>
            </a:endParaRP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expressive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 &amp; Conclusion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5439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Equational theories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Either </a:t>
            </a:r>
            <a:r>
              <a:rPr lang="en-US" dirty="0" err="1">
                <a:latin typeface="Source Sans Pro"/>
                <a:ea typeface="Source Sans Pro"/>
              </a:rPr>
              <a:t>spi</a:t>
            </a:r>
            <a:r>
              <a:rPr lang="en-US" dirty="0">
                <a:latin typeface="Source Sans Pro"/>
                <a:ea typeface="Source Sans Pro"/>
              </a:rPr>
              <a:t> calculus to pi calculus, or Mitchell to Tamarin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primitives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In MSR world, go from using an encryption rule and a decryption rule to using an equational theory, and borrow techniques from term rewriting because we need congruence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Why not term rewriting for everything? You can! But at a high level, MSR naturally encodes state and TR naturally encodes algebraic properties; here we can get both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How to get XOR to work? Either compile it away [</a:t>
            </a:r>
            <a:r>
              <a:rPr lang="en-US" dirty="0" err="1">
                <a:latin typeface="Source Sans Pro"/>
                <a:ea typeface="Source Sans Pro"/>
              </a:rPr>
              <a:t>ProVerif</a:t>
            </a:r>
            <a:r>
              <a:rPr lang="en-US" dirty="0">
                <a:latin typeface="Source Sans Pro"/>
                <a:ea typeface="Source Sans Pro"/>
              </a:rPr>
              <a:t>], or partition the equational theory one part that is convergent and another part with decidable (&amp; efficient) unification </a:t>
            </a:r>
          </a:p>
          <a:p>
            <a:r>
              <a:rPr lang="en-US" dirty="0">
                <a:latin typeface="Source Sans Pro"/>
                <a:ea typeface="Source Sans Pro"/>
              </a:rPr>
              <a:t>Arithmetic</a:t>
            </a:r>
          </a:p>
          <a:p>
            <a:r>
              <a:rPr lang="en-US" dirty="0">
                <a:latin typeface="Source Sans Pro"/>
                <a:ea typeface="Source Sans Pro"/>
              </a:rPr>
              <a:t>Open Q: Efficient theory reasoning for cryptographic verification?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0237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9061-DBE1-521F-0A98-228D11553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8897A-6C8D-C8F5-E34E-1C4FCF979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39524-62D8-EAA7-21B2-F034F4C30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endParaRPr lang="en-US" dirty="0">
              <a:latin typeface="Source Sans Pro"/>
              <a:ea typeface="Source Sans Pro"/>
            </a:endParaRP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Threat models and their relationships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Security properties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Formalization</a:t>
            </a:r>
            <a:endParaRPr lang="en-US" dirty="0"/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expressive (prior work &amp; open questions)</a:t>
            </a:r>
          </a:p>
          <a:p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Making reasoning tractable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(prior work &amp; open questions)</a:t>
            </a:r>
          </a:p>
          <a:p>
            <a:r>
              <a:rPr lang="en-US" dirty="0">
                <a:latin typeface="Source Sans Pro"/>
                <a:ea typeface="Source Sans Pro"/>
              </a:rPr>
              <a:t>Discussion &amp; Conclusion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61D046-F617-E8D9-BC2E-1F82D74F38C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1857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Cryptographic protocol verification background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Threat models and their relationships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Security properties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Formalization</a:t>
            </a:r>
            <a:endParaRPr lang="en-US" b="1" dirty="0">
              <a:solidFill>
                <a:schemeClr val="accent6">
                  <a:lumMod val="76000"/>
                </a:schemeClr>
              </a:solidFill>
            </a:endParaRP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expressive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 &amp; Conclusion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0889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Tractable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Strong typing assumption</a:t>
            </a:r>
          </a:p>
          <a:p>
            <a:r>
              <a:rPr lang="en-US" dirty="0">
                <a:latin typeface="Source Sans Pro"/>
                <a:ea typeface="Source Sans Pro"/>
              </a:rPr>
              <a:t>It is not sound. When can it be sound? Does this help? (Kind of, but doesn't give decidability)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Typing protocols for free</a:t>
            </a:r>
          </a:p>
          <a:p>
            <a:r>
              <a:rPr lang="en-US" dirty="0">
                <a:latin typeface="Source Sans Pro"/>
                <a:ea typeface="Source Sans Pro"/>
              </a:rPr>
              <a:t>How to regain decidability? Bound *both* data items and term depth</a:t>
            </a:r>
          </a:p>
          <a:p>
            <a:r>
              <a:rPr lang="en-US" dirty="0">
                <a:latin typeface="Source Sans Pro"/>
                <a:ea typeface="Source Sans Pro"/>
              </a:rPr>
              <a:t>Reasoning compositionally?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Tamarin and </a:t>
            </a:r>
            <a:r>
              <a:rPr lang="en-US" dirty="0" err="1">
                <a:latin typeface="Source Sans Pro"/>
                <a:ea typeface="Source Sans Pro"/>
              </a:rPr>
              <a:t>ProVerif</a:t>
            </a:r>
            <a:r>
              <a:rPr lang="en-US" dirty="0">
                <a:latin typeface="Source Sans Pro"/>
                <a:ea typeface="Source Sans Pro"/>
              </a:rPr>
              <a:t> and inherently un-compositional…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Compositional techniques are in the tradition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security by typing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0056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endParaRPr lang="en-US" dirty="0">
              <a:latin typeface="Source Sans Pro"/>
              <a:ea typeface="Source Sans Pro"/>
            </a:endParaRP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Threat models and their relationships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Security properties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Formalization</a:t>
            </a:r>
            <a:endParaRPr lang="en-US" dirty="0"/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expressive (prior work &amp; open questions)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 (prior work &amp; open questions)</a:t>
            </a:r>
          </a:p>
          <a:p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Discussion &amp; Conclusion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Cryptographic protocol verification background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Threat models and their relationships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Security properties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Formalization</a:t>
            </a:r>
            <a:endParaRPr lang="en-US" b="1" dirty="0">
              <a:solidFill>
                <a:schemeClr val="accent6">
                  <a:lumMod val="76000"/>
                </a:schemeClr>
              </a:solidFill>
            </a:endParaRP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expressive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 &amp; Conclusion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4160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Why compositional reasoning (within a single protocol) might be feasible in practice</a:t>
            </a:r>
          </a:p>
          <a:p>
            <a:r>
              <a:rPr lang="en-US" dirty="0">
                <a:latin typeface="Source Sans Pro"/>
                <a:ea typeface="Source Sans Pro"/>
              </a:rPr>
              <a:t>Why theory reasoning might be feasible in practice</a:t>
            </a:r>
          </a:p>
          <a:p>
            <a:r>
              <a:rPr lang="en-US" dirty="0">
                <a:latin typeface="Source Sans Pro"/>
                <a:ea typeface="Source Sans Pro"/>
              </a:rPr>
              <a:t>Why recovering interactivity might be feasible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Stuff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Source Sans Pro"/>
                <a:ea typeface="Source Sans Pro"/>
              </a:rPr>
              <a:t>Thanks! Questions?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628D-B4CD-4C8A-B76A-13155678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ource Sans Pro"/>
                <a:ea typeface="Source Sans Pro"/>
              </a:rPr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115ED-9912-DA77-67F5-5CDAA597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70000" lnSpcReduction="2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Could also talk about BAN and why it didn't work very well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Requires manual annotations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Doesn't reason about adversarial actions – originally sold as a benefit, but it essentially shifts adversarial reasoning from the logic to the user, which is error-prone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Public key Needham-Schroeder is BAN-secure! (check this, looks like analysis in the original paper)</a:t>
            </a:r>
          </a:p>
          <a:p>
            <a:r>
              <a:rPr lang="en-US" dirty="0">
                <a:latin typeface="Source Sans Pro"/>
                <a:ea typeface="Source Sans Pro"/>
              </a:rPr>
              <a:t>Already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 attacks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Relationships between semantics</a:t>
            </a:r>
          </a:p>
          <a:p>
            <a:r>
              <a:rPr lang="en-US" dirty="0">
                <a:latin typeface="Source Sans Pro"/>
                <a:ea typeface="Source Sans Pro"/>
              </a:rPr>
              <a:t>Give more details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Strong typing assumption, XOR vs pairing/projection</a:t>
            </a:r>
            <a:endParaRPr lang="en-US" sz="2200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Reveal scenarios (required for Needham-Schroeder attack); give updated security properties</a:t>
            </a:r>
            <a:endParaRPr lang="en-US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Example(s) where secrecy labels are over conservative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Symbolic model not strictly weaker than computational model</a:t>
            </a:r>
          </a:p>
          <a:p>
            <a:r>
              <a:rPr lang="en-US" dirty="0">
                <a:latin typeface="Source Sans Pro"/>
                <a:ea typeface="Source Sans Pro"/>
              </a:rPr>
              <a:t>Not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Protocols involving arithmetic; how Tamarin models arithmetic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Some tidbits about CCSA – overview of the BC logic, why automated reasoning about it is hard, cryptographic axioms, and spurious counterexamples</a:t>
            </a:r>
          </a:p>
        </p:txBody>
      </p:sp>
    </p:spTree>
    <p:extLst>
      <p:ext uri="{BB962C8B-B14F-4D97-AF65-F5344CB8AC3E}">
        <p14:creationId xmlns:p14="http://schemas.microsoft.com/office/powerpoint/2010/main" val="1572822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278</TotalTime>
  <Words>2919</Words>
  <Application>Microsoft Macintosh PowerPoint</Application>
  <PresentationFormat>Widescreen</PresentationFormat>
  <Paragraphs>444</Paragraphs>
  <Slides>54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Aptos</vt:lpstr>
      <vt:lpstr>Aptos Display</vt:lpstr>
      <vt:lpstr>Arial</vt:lpstr>
      <vt:lpstr>Calibri</vt:lpstr>
      <vt:lpstr>Cambria Math</vt:lpstr>
      <vt:lpstr>Courier New</vt:lpstr>
      <vt:lpstr>Courier New,monospace</vt:lpstr>
      <vt:lpstr>Source Sans Pro</vt:lpstr>
      <vt:lpstr>Office Theme</vt:lpstr>
      <vt:lpstr>Automated Reasoning for Security Protocols</vt:lpstr>
      <vt:lpstr>Content Slide</vt:lpstr>
      <vt:lpstr>Introduction &amp; Motivation</vt:lpstr>
      <vt:lpstr>Introduction &amp; Motivation</vt:lpstr>
      <vt:lpstr>Introduction &amp; Motivation</vt:lpstr>
      <vt:lpstr>Roadmap</vt:lpstr>
      <vt:lpstr>Roadmap</vt:lpstr>
      <vt:lpstr>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Protocols</vt:lpstr>
      <vt:lpstr>Mathematical Cryptography: Security of Protocols</vt:lpstr>
      <vt:lpstr>Mathematical Cryptography: Security of Protocols</vt:lpstr>
      <vt:lpstr>How to make reasoning easier?</vt:lpstr>
      <vt:lpstr>Threat Models</vt:lpstr>
      <vt:lpstr>Symbolic Model</vt:lpstr>
      <vt:lpstr>Symbolic Model</vt:lpstr>
      <vt:lpstr>Symbolic Model</vt:lpstr>
      <vt:lpstr>Symbolic Model</vt:lpstr>
      <vt:lpstr>Symbolic Model</vt:lpstr>
      <vt:lpstr>Formalizing Security Protocols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Roadmap</vt:lpstr>
      <vt:lpstr>Needham-Schroeder Public Key Protocol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Roadmap</vt:lpstr>
      <vt:lpstr>Roadmap</vt:lpstr>
      <vt:lpstr>Making Reasoning Expressive</vt:lpstr>
      <vt:lpstr>Roadmap</vt:lpstr>
      <vt:lpstr>Roadmap</vt:lpstr>
      <vt:lpstr>Making Reasoning Tractable</vt:lpstr>
      <vt:lpstr>Roadmap</vt:lpstr>
      <vt:lpstr>Roadmap</vt:lpstr>
      <vt:lpstr>Discussion</vt:lpstr>
      <vt:lpstr>Conclusion</vt:lpstr>
      <vt:lpstr>PowerPoint Presentation</vt:lpstr>
      <vt:lpstr>Appendix: Tamarin Property Specification Language</vt:lpstr>
      <vt:lpstr>Appendix: CCSA Model</vt:lpstr>
      <vt:lpstr>Appendix: BAN Logic</vt:lpstr>
      <vt:lpstr>Things to discuss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725</cp:revision>
  <dcterms:created xsi:type="dcterms:W3CDTF">2026-03-16T17:02:12Z</dcterms:created>
  <dcterms:modified xsi:type="dcterms:W3CDTF">2026-03-17T20:30:41Z</dcterms:modified>
</cp:coreProperties>
</file>