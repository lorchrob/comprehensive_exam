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4"/>
  </p:notesMasterIdLst>
  <p:sldIdLst>
    <p:sldId id="256" r:id="rId2"/>
    <p:sldId id="274" r:id="rId3"/>
    <p:sldId id="278" r:id="rId4"/>
    <p:sldId id="277" r:id="rId5"/>
    <p:sldId id="260" r:id="rId6"/>
    <p:sldId id="291" r:id="rId7"/>
    <p:sldId id="290" r:id="rId8"/>
    <p:sldId id="266" r:id="rId9"/>
    <p:sldId id="261" r:id="rId10"/>
    <p:sldId id="281" r:id="rId11"/>
    <p:sldId id="309" r:id="rId12"/>
    <p:sldId id="280" r:id="rId13"/>
    <p:sldId id="279" r:id="rId14"/>
    <p:sldId id="332" r:id="rId15"/>
    <p:sldId id="333" r:id="rId16"/>
    <p:sldId id="282" r:id="rId17"/>
    <p:sldId id="284" r:id="rId18"/>
    <p:sldId id="283" r:id="rId19"/>
    <p:sldId id="286" r:id="rId20"/>
    <p:sldId id="287" r:id="rId21"/>
    <p:sldId id="264" r:id="rId22"/>
    <p:sldId id="263" r:id="rId23"/>
    <p:sldId id="289" r:id="rId24"/>
    <p:sldId id="292" r:id="rId25"/>
    <p:sldId id="293" r:id="rId26"/>
    <p:sldId id="294" r:id="rId27"/>
    <p:sldId id="298" r:id="rId28"/>
    <p:sldId id="325" r:id="rId29"/>
    <p:sldId id="275" r:id="rId30"/>
    <p:sldId id="318" r:id="rId31"/>
    <p:sldId id="319" r:id="rId32"/>
    <p:sldId id="320" r:id="rId33"/>
    <p:sldId id="322" r:id="rId34"/>
    <p:sldId id="321" r:id="rId35"/>
    <p:sldId id="324" r:id="rId36"/>
    <p:sldId id="323" r:id="rId37"/>
    <p:sldId id="326" r:id="rId38"/>
    <p:sldId id="327" r:id="rId39"/>
    <p:sldId id="329" r:id="rId40"/>
    <p:sldId id="302" r:id="rId41"/>
    <p:sldId id="331" r:id="rId42"/>
    <p:sldId id="276" r:id="rId43"/>
    <p:sldId id="303" r:id="rId44"/>
    <p:sldId id="330" r:id="rId45"/>
    <p:sldId id="304" r:id="rId46"/>
    <p:sldId id="337" r:id="rId47"/>
    <p:sldId id="305" r:id="rId48"/>
    <p:sldId id="312" r:id="rId49"/>
    <p:sldId id="262" r:id="rId50"/>
    <p:sldId id="334" r:id="rId51"/>
    <p:sldId id="335" r:id="rId52"/>
    <p:sldId id="336" r:id="rId53"/>
    <p:sldId id="307" r:id="rId54"/>
    <p:sldId id="308" r:id="rId55"/>
    <p:sldId id="306" r:id="rId56"/>
    <p:sldId id="310" r:id="rId57"/>
    <p:sldId id="311" r:id="rId58"/>
    <p:sldId id="270" r:id="rId59"/>
    <p:sldId id="313" r:id="rId60"/>
    <p:sldId id="269" r:id="rId61"/>
    <p:sldId id="271" r:id="rId62"/>
    <p:sldId id="314" r:id="rId63"/>
    <p:sldId id="268" r:id="rId64"/>
    <p:sldId id="272" r:id="rId65"/>
    <p:sldId id="315" r:id="rId66"/>
    <p:sldId id="273" r:id="rId67"/>
    <p:sldId id="301" r:id="rId68"/>
    <p:sldId id="300" r:id="rId69"/>
    <p:sldId id="317" r:id="rId70"/>
    <p:sldId id="299" r:id="rId71"/>
    <p:sldId id="316" r:id="rId72"/>
    <p:sldId id="257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0F826-5AE4-1C40-1D2A-DC633039E620}" v="294" dt="2026-03-16T17:08:32.134"/>
    <p1510:client id="{5BAA2FE9-2AE3-1C6F-7B69-0FE2221A7331}" v="4365" dt="2026-03-17T00:27:49.150"/>
    <p1510:client id="{B02DEEF2-F061-53BA-C87A-FF5908ACECB1}" v="536" dt="2026-03-17T15:38:34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15" autoAdjust="0"/>
    <p:restoredTop sz="94719"/>
  </p:normalViewPr>
  <p:slideViewPr>
    <p:cSldViewPr snapToGrid="0">
      <p:cViewPr>
        <p:scale>
          <a:sx n="122" d="100"/>
          <a:sy n="122" d="100"/>
        </p:scale>
        <p:origin x="76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ch, Robert M" userId="S::rlorch@uiowa.edu::fab7d2ca-73fd-43ac-88ae-e4267d71ff13" providerId="AD" clId="Web-{B02DEEF2-F061-53BA-C87A-FF5908ACECB1}"/>
    <pc:docChg chg="addSld modSld sldOrd">
      <pc:chgData name="Lorch, Robert M" userId="S::rlorch@uiowa.edu::fab7d2ca-73fd-43ac-88ae-e4267d71ff13" providerId="AD" clId="Web-{B02DEEF2-F061-53BA-C87A-FF5908ACECB1}" dt="2026-03-17T15:38:34.404" v="537" actId="20577"/>
      <pc:docMkLst>
        <pc:docMk/>
      </pc:docMkLst>
      <pc:sldChg chg="modSp">
        <pc:chgData name="Lorch, Robert M" userId="S::rlorch@uiowa.edu::fab7d2ca-73fd-43ac-88ae-e4267d71ff13" providerId="AD" clId="Web-{B02DEEF2-F061-53BA-C87A-FF5908ACECB1}" dt="2026-03-17T15:38:34.404" v="537" actId="20577"/>
        <pc:sldMkLst>
          <pc:docMk/>
          <pc:sldMk cId="3827240189" sldId="260"/>
        </pc:sldMkLst>
        <pc:spChg chg="mod">
          <ac:chgData name="Lorch, Robert M" userId="S::rlorch@uiowa.edu::fab7d2ca-73fd-43ac-88ae-e4267d71ff13" providerId="AD" clId="Web-{B02DEEF2-F061-53BA-C87A-FF5908ACECB1}" dt="2026-03-17T15:38:34.404" v="537" actId="20577"/>
          <ac:spMkLst>
            <pc:docMk/>
            <pc:sldMk cId="3827240189" sldId="260"/>
            <ac:spMk id="3" creationId="{408FE3CC-B3C1-2EB5-2B26-CEE053F6D54F}"/>
          </ac:spMkLst>
        </pc:spChg>
      </pc:sldChg>
      <pc:sldChg chg="addSp delSp modSp">
        <pc:chgData name="Lorch, Robert M" userId="S::rlorch@uiowa.edu::fab7d2ca-73fd-43ac-88ae-e4267d71ff13" providerId="AD" clId="Web-{B02DEEF2-F061-53BA-C87A-FF5908ACECB1}" dt="2026-03-17T14:35:09.170" v="175" actId="20577"/>
        <pc:sldMkLst>
          <pc:docMk/>
          <pc:sldMk cId="2740590959" sldId="261"/>
        </pc:sldMkLst>
        <pc:spChg chg="mod">
          <ac:chgData name="Lorch, Robert M" userId="S::rlorch@uiowa.edu::fab7d2ca-73fd-43ac-88ae-e4267d71ff13" providerId="AD" clId="Web-{B02DEEF2-F061-53BA-C87A-FF5908ACECB1}" dt="2026-03-17T14:35:09.170" v="175" actId="20577"/>
          <ac:spMkLst>
            <pc:docMk/>
            <pc:sldMk cId="2740590959" sldId="261"/>
            <ac:spMk id="3" creationId="{AF5CADC4-C336-F3FF-CB42-A10E1EA9086C}"/>
          </ac:spMkLst>
        </pc:spChg>
        <pc:picChg chg="add del">
          <ac:chgData name="Lorch, Robert M" userId="S::rlorch@uiowa.edu::fab7d2ca-73fd-43ac-88ae-e4267d71ff13" providerId="AD" clId="Web-{B02DEEF2-F061-53BA-C87A-FF5908ACECB1}" dt="2026-03-17T14:20:00.510" v="8"/>
          <ac:picMkLst>
            <pc:docMk/>
            <pc:sldMk cId="2740590959" sldId="261"/>
            <ac:picMk id="6" creationId="{7FE97D8E-A90F-03C7-7BA6-F2B35D21B7C5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4:33:08.167" v="114"/>
          <ac:picMkLst>
            <pc:docMk/>
            <pc:sldMk cId="2740590959" sldId="261"/>
            <ac:picMk id="8" creationId="{C735EF69-6110-6416-D067-99A8BC37A0D4}"/>
          </ac:picMkLst>
        </pc:picChg>
        <pc:picChg chg="add del mod">
          <ac:chgData name="Lorch, Robert M" userId="S::rlorch@uiowa.edu::fab7d2ca-73fd-43ac-88ae-e4267d71ff13" providerId="AD" clId="Web-{B02DEEF2-F061-53BA-C87A-FF5908ACECB1}" dt="2026-03-17T14:21:19.089" v="23"/>
          <ac:picMkLst>
            <pc:docMk/>
            <pc:sldMk cId="2740590959" sldId="261"/>
            <ac:picMk id="9" creationId="{B599509D-7DB0-B9FA-4BF6-3578B4277F9C}"/>
          </ac:picMkLst>
        </pc:picChg>
      </pc:sldChg>
      <pc:sldChg chg="modSp">
        <pc:chgData name="Lorch, Robert M" userId="S::rlorch@uiowa.edu::fab7d2ca-73fd-43ac-88ae-e4267d71ff13" providerId="AD" clId="Web-{B02DEEF2-F061-53BA-C87A-FF5908ACECB1}" dt="2026-03-17T14:24:27.205" v="49" actId="20577"/>
        <pc:sldMkLst>
          <pc:docMk/>
          <pc:sldMk cId="2390616772" sldId="277"/>
        </pc:sldMkLst>
        <pc:spChg chg="mod">
          <ac:chgData name="Lorch, Robert M" userId="S::rlorch@uiowa.edu::fab7d2ca-73fd-43ac-88ae-e4267d71ff13" providerId="AD" clId="Web-{B02DEEF2-F061-53BA-C87A-FF5908ACECB1}" dt="2026-03-17T14:24:27.205" v="49" actId="20577"/>
          <ac:spMkLst>
            <pc:docMk/>
            <pc:sldMk cId="2390616772" sldId="277"/>
            <ac:spMk id="3" creationId="{A2769A3B-1AD2-7DE9-BA3C-9D6741CF1CF4}"/>
          </ac:spMkLst>
        </pc:spChg>
      </pc:sldChg>
      <pc:sldChg chg="modSp">
        <pc:chgData name="Lorch, Robert M" userId="S::rlorch@uiowa.edu::fab7d2ca-73fd-43ac-88ae-e4267d71ff13" providerId="AD" clId="Web-{B02DEEF2-F061-53BA-C87A-FF5908ACECB1}" dt="2026-03-17T14:33:26.808" v="119"/>
        <pc:sldMkLst>
          <pc:docMk/>
          <pc:sldMk cId="2589333419" sldId="278"/>
        </pc:sldMkLst>
        <pc:picChg chg="mod modCrop">
          <ac:chgData name="Lorch, Robert M" userId="S::rlorch@uiowa.edu::fab7d2ca-73fd-43ac-88ae-e4267d71ff13" providerId="AD" clId="Web-{B02DEEF2-F061-53BA-C87A-FF5908ACECB1}" dt="2026-03-17T14:33:26.808" v="119"/>
          <ac:picMkLst>
            <pc:docMk/>
            <pc:sldMk cId="2589333419" sldId="278"/>
            <ac:picMk id="5" creationId="{E24F264D-0BAD-E1FE-CF19-8575F2BBE2DD}"/>
          </ac:picMkLst>
        </pc:picChg>
      </pc:sldChg>
      <pc:sldChg chg="addSp delSp modSp add replId">
        <pc:chgData name="Lorch, Robert M" userId="S::rlorch@uiowa.edu::fab7d2ca-73fd-43ac-88ae-e4267d71ff13" providerId="AD" clId="Web-{B02DEEF2-F061-53BA-C87A-FF5908ACECB1}" dt="2026-03-17T14:35:25.498" v="181" actId="1076"/>
        <pc:sldMkLst>
          <pc:docMk/>
          <pc:sldMk cId="1893583948" sldId="279"/>
        </pc:sldMkLst>
        <pc:spChg chg="mod">
          <ac:chgData name="Lorch, Robert M" userId="S::rlorch@uiowa.edu::fab7d2ca-73fd-43ac-88ae-e4267d71ff13" providerId="AD" clId="Web-{B02DEEF2-F061-53BA-C87A-FF5908ACECB1}" dt="2026-03-17T14:35:14.810" v="177" actId="20577"/>
          <ac:spMkLst>
            <pc:docMk/>
            <pc:sldMk cId="1893583948" sldId="279"/>
            <ac:spMk id="3" creationId="{2AF93952-35F0-AF2E-6FA0-F11415240F8A}"/>
          </ac:spMkLst>
        </pc:spChg>
        <pc:picChg chg="add del">
          <ac:chgData name="Lorch, Robert M" userId="S::rlorch@uiowa.edu::fab7d2ca-73fd-43ac-88ae-e4267d71ff13" providerId="AD" clId="Web-{B02DEEF2-F061-53BA-C87A-FF5908ACECB1}" dt="2026-03-17T14:35:16.232" v="179"/>
          <ac:picMkLst>
            <pc:docMk/>
            <pc:sldMk cId="1893583948" sldId="279"/>
            <ac:picMk id="6" creationId="{B0EBF5C2-8ECD-BDE7-D28F-9C85B6E545D9}"/>
          </ac:picMkLst>
        </pc:picChg>
        <pc:picChg chg="add mod">
          <ac:chgData name="Lorch, Robert M" userId="S::rlorch@uiowa.edu::fab7d2ca-73fd-43ac-88ae-e4267d71ff13" providerId="AD" clId="Web-{B02DEEF2-F061-53BA-C87A-FF5908ACECB1}" dt="2026-03-17T14:35:25.498" v="181" actId="1076"/>
          <ac:picMkLst>
            <pc:docMk/>
            <pc:sldMk cId="1893583948" sldId="279"/>
            <ac:picMk id="8" creationId="{01777698-7B5C-C18A-E8C8-5DCEEE8F3964}"/>
          </ac:picMkLst>
        </pc:picChg>
      </pc:sldChg>
      <pc:sldChg chg="addSp delSp modSp add replId">
        <pc:chgData name="Lorch, Robert M" userId="S::rlorch@uiowa.edu::fab7d2ca-73fd-43ac-88ae-e4267d71ff13" providerId="AD" clId="Web-{B02DEEF2-F061-53BA-C87A-FF5908ACECB1}" dt="2026-03-17T14:35:03.466" v="172" actId="20577"/>
        <pc:sldMkLst>
          <pc:docMk/>
          <pc:sldMk cId="2182094920" sldId="280"/>
        </pc:sldMkLst>
        <pc:spChg chg="mod">
          <ac:chgData name="Lorch, Robert M" userId="S::rlorch@uiowa.edu::fab7d2ca-73fd-43ac-88ae-e4267d71ff13" providerId="AD" clId="Web-{B02DEEF2-F061-53BA-C87A-FF5908ACECB1}" dt="2026-03-17T14:35:03.466" v="172" actId="20577"/>
          <ac:spMkLst>
            <pc:docMk/>
            <pc:sldMk cId="2182094920" sldId="280"/>
            <ac:spMk id="3" creationId="{31AFCCB9-084E-F500-EA8B-C6F0A361EE74}"/>
          </ac:spMkLst>
        </pc:spChg>
        <pc:spChg chg="add del mod">
          <ac:chgData name="Lorch, Robert M" userId="S::rlorch@uiowa.edu::fab7d2ca-73fd-43ac-88ae-e4267d71ff13" providerId="AD" clId="Web-{B02DEEF2-F061-53BA-C87A-FF5908ACECB1}" dt="2026-03-17T14:28:04.204" v="76"/>
          <ac:spMkLst>
            <pc:docMk/>
            <pc:sldMk cId="2182094920" sldId="280"/>
            <ac:spMk id="6" creationId="{743EFDA1-7B88-7487-B351-DB1BEF951D96}"/>
          </ac:spMkLst>
        </pc:spChg>
        <pc:spChg chg="add del mod">
          <ac:chgData name="Lorch, Robert M" userId="S::rlorch@uiowa.edu::fab7d2ca-73fd-43ac-88ae-e4267d71ff13" providerId="AD" clId="Web-{B02DEEF2-F061-53BA-C87A-FF5908ACECB1}" dt="2026-03-17T14:28:00.438" v="75"/>
          <ac:spMkLst>
            <pc:docMk/>
            <pc:sldMk cId="2182094920" sldId="280"/>
            <ac:spMk id="7" creationId="{C4BB3A4E-47FA-4365-F147-45A83A332015}"/>
          </ac:spMkLst>
        </pc:spChg>
        <pc:spChg chg="add mod">
          <ac:chgData name="Lorch, Robert M" userId="S::rlorch@uiowa.edu::fab7d2ca-73fd-43ac-88ae-e4267d71ff13" providerId="AD" clId="Web-{B02DEEF2-F061-53BA-C87A-FF5908ACECB1}" dt="2026-03-17T14:29:11.254" v="83"/>
          <ac:spMkLst>
            <pc:docMk/>
            <pc:sldMk cId="2182094920" sldId="280"/>
            <ac:spMk id="10" creationId="{DEA188B3-2C76-1245-5117-08DDC482597B}"/>
          </ac:spMkLst>
        </pc:spChg>
        <pc:spChg chg="add mod">
          <ac:chgData name="Lorch, Robert M" userId="S::rlorch@uiowa.edu::fab7d2ca-73fd-43ac-88ae-e4267d71ff13" providerId="AD" clId="Web-{B02DEEF2-F061-53BA-C87A-FF5908ACECB1}" dt="2026-03-17T14:29:14.785" v="85" actId="1076"/>
          <ac:spMkLst>
            <pc:docMk/>
            <pc:sldMk cId="2182094920" sldId="280"/>
            <ac:spMk id="11" creationId="{16834DC1-C074-A677-509A-E515F324237E}"/>
          </ac:spMkLst>
        </pc:spChg>
        <pc:spChg chg="add mod">
          <ac:chgData name="Lorch, Robert M" userId="S::rlorch@uiowa.edu::fab7d2ca-73fd-43ac-88ae-e4267d71ff13" providerId="AD" clId="Web-{B02DEEF2-F061-53BA-C87A-FF5908ACECB1}" dt="2026-03-17T14:29:43.615" v="92" actId="1076"/>
          <ac:spMkLst>
            <pc:docMk/>
            <pc:sldMk cId="2182094920" sldId="280"/>
            <ac:spMk id="12" creationId="{F9B50925-B04A-7DE8-B6C5-384D761DDABC}"/>
          </ac:spMkLst>
        </pc:spChg>
        <pc:spChg chg="add mod">
          <ac:chgData name="Lorch, Robert M" userId="S::rlorch@uiowa.edu::fab7d2ca-73fd-43ac-88ae-e4267d71ff13" providerId="AD" clId="Web-{B02DEEF2-F061-53BA-C87A-FF5908ACECB1}" dt="2026-03-17T14:29:48.443" v="94" actId="1076"/>
          <ac:spMkLst>
            <pc:docMk/>
            <pc:sldMk cId="2182094920" sldId="280"/>
            <ac:spMk id="13" creationId="{4DE95B5E-2141-3EB1-D16B-6463926F0EFB}"/>
          </ac:spMkLst>
        </pc:spChg>
        <pc:picChg chg="add del mod">
          <ac:chgData name="Lorch, Robert M" userId="S::rlorch@uiowa.edu::fab7d2ca-73fd-43ac-88ae-e4267d71ff13" providerId="AD" clId="Web-{B02DEEF2-F061-53BA-C87A-FF5908ACECB1}" dt="2026-03-17T14:28:00.032" v="74"/>
          <ac:picMkLst>
            <pc:docMk/>
            <pc:sldMk cId="2182094920" sldId="280"/>
            <ac:picMk id="5" creationId="{47C64D53-0BC6-2BEE-53C4-B7E80BCA675A}"/>
          </ac:picMkLst>
        </pc:picChg>
        <pc:picChg chg="del">
          <ac:chgData name="Lorch, Robert M" userId="S::rlorch@uiowa.edu::fab7d2ca-73fd-43ac-88ae-e4267d71ff13" providerId="AD" clId="Web-{B02DEEF2-F061-53BA-C87A-FF5908ACECB1}" dt="2026-03-17T14:21:20.761" v="24"/>
          <ac:picMkLst>
            <pc:docMk/>
            <pc:sldMk cId="2182094920" sldId="280"/>
            <ac:picMk id="8" creationId="{F7021294-FAAE-0CDF-7494-22F8AE68DEE9}"/>
          </ac:picMkLst>
        </pc:picChg>
        <pc:picChg chg="mod modCrop">
          <ac:chgData name="Lorch, Robert M" userId="S::rlorch@uiowa.edu::fab7d2ca-73fd-43ac-88ae-e4267d71ff13" providerId="AD" clId="Web-{B02DEEF2-F061-53BA-C87A-FF5908ACECB1}" dt="2026-03-17T14:32:49.354" v="110"/>
          <ac:picMkLst>
            <pc:docMk/>
            <pc:sldMk cId="2182094920" sldId="280"/>
            <ac:picMk id="9" creationId="{A49E92C4-6F3A-185A-2DDB-FD97B92D29D0}"/>
          </ac:picMkLst>
        </pc:picChg>
      </pc:sldChg>
      <pc:sldChg chg="delSp modSp add ord replId">
        <pc:chgData name="Lorch, Robert M" userId="S::rlorch@uiowa.edu::fab7d2ca-73fd-43ac-88ae-e4267d71ff13" providerId="AD" clId="Web-{B02DEEF2-F061-53BA-C87A-FF5908ACECB1}" dt="2026-03-17T14:35:05.107" v="173" actId="20577"/>
        <pc:sldMkLst>
          <pc:docMk/>
          <pc:sldMk cId="876203954" sldId="281"/>
        </pc:sldMkLst>
        <pc:spChg chg="mod">
          <ac:chgData name="Lorch, Robert M" userId="S::rlorch@uiowa.edu::fab7d2ca-73fd-43ac-88ae-e4267d71ff13" providerId="AD" clId="Web-{B02DEEF2-F061-53BA-C87A-FF5908ACECB1}" dt="2026-03-17T14:35:05.107" v="173" actId="20577"/>
          <ac:spMkLst>
            <pc:docMk/>
            <pc:sldMk cId="876203954" sldId="281"/>
            <ac:spMk id="3" creationId="{A52826FA-B668-1032-DAC6-3AF7A74F38F0}"/>
          </ac:spMkLst>
        </pc:spChg>
        <pc:spChg chg="del">
          <ac:chgData name="Lorch, Robert M" userId="S::rlorch@uiowa.edu::fab7d2ca-73fd-43ac-88ae-e4267d71ff13" providerId="AD" clId="Web-{B02DEEF2-F061-53BA-C87A-FF5908ACECB1}" dt="2026-03-17T14:30:01.600" v="100"/>
          <ac:spMkLst>
            <pc:docMk/>
            <pc:sldMk cId="876203954" sldId="281"/>
            <ac:spMk id="10" creationId="{1469F5A9-E764-049C-D59B-647446E5116F}"/>
          </ac:spMkLst>
        </pc:spChg>
        <pc:spChg chg="del">
          <ac:chgData name="Lorch, Robert M" userId="S::rlorch@uiowa.edu::fab7d2ca-73fd-43ac-88ae-e4267d71ff13" providerId="AD" clId="Web-{B02DEEF2-F061-53BA-C87A-FF5908ACECB1}" dt="2026-03-17T14:30:01.600" v="99"/>
          <ac:spMkLst>
            <pc:docMk/>
            <pc:sldMk cId="876203954" sldId="281"/>
            <ac:spMk id="11" creationId="{DDB509CC-1BEE-F286-8DA9-9EB1AAC1AE5F}"/>
          </ac:spMkLst>
        </pc:spChg>
        <pc:spChg chg="del">
          <ac:chgData name="Lorch, Robert M" userId="S::rlorch@uiowa.edu::fab7d2ca-73fd-43ac-88ae-e4267d71ff13" providerId="AD" clId="Web-{B02DEEF2-F061-53BA-C87A-FF5908ACECB1}" dt="2026-03-17T14:30:01.600" v="98"/>
          <ac:spMkLst>
            <pc:docMk/>
            <pc:sldMk cId="876203954" sldId="281"/>
            <ac:spMk id="12" creationId="{58B2F6B3-2162-1F83-3EC9-01356D985D71}"/>
          </ac:spMkLst>
        </pc:spChg>
        <pc:spChg chg="del">
          <ac:chgData name="Lorch, Robert M" userId="S::rlorch@uiowa.edu::fab7d2ca-73fd-43ac-88ae-e4267d71ff13" providerId="AD" clId="Web-{B02DEEF2-F061-53BA-C87A-FF5908ACECB1}" dt="2026-03-17T14:30:01.600" v="97"/>
          <ac:spMkLst>
            <pc:docMk/>
            <pc:sldMk cId="876203954" sldId="281"/>
            <ac:spMk id="13" creationId="{D12D654D-9436-5AAF-E208-46DD6BD246D7}"/>
          </ac:spMkLst>
        </pc:spChg>
        <pc:picChg chg="mod modCrop">
          <ac:chgData name="Lorch, Robert M" userId="S::rlorch@uiowa.edu::fab7d2ca-73fd-43ac-88ae-e4267d71ff13" providerId="AD" clId="Web-{B02DEEF2-F061-53BA-C87A-FF5908ACECB1}" dt="2026-03-17T14:32:59.745" v="112"/>
          <ac:picMkLst>
            <pc:docMk/>
            <pc:sldMk cId="876203954" sldId="281"/>
            <ac:picMk id="9" creationId="{D93CA980-B60C-BF94-9DD3-7F4A315CF533}"/>
          </ac:picMkLst>
        </pc:picChg>
      </pc:sldChg>
      <pc:sldChg chg="addSp modSp add replId">
        <pc:chgData name="Lorch, Robert M" userId="S::rlorch@uiowa.edu::fab7d2ca-73fd-43ac-88ae-e4267d71ff13" providerId="AD" clId="Web-{B02DEEF2-F061-53BA-C87A-FF5908ACECB1}" dt="2026-03-17T15:02:58.718" v="412" actId="1076"/>
        <pc:sldMkLst>
          <pc:docMk/>
          <pc:sldMk cId="3695412493" sldId="282"/>
        </pc:sldMkLst>
        <pc:spChg chg="mod">
          <ac:chgData name="Lorch, Robert M" userId="S::rlorch@uiowa.edu::fab7d2ca-73fd-43ac-88ae-e4267d71ff13" providerId="AD" clId="Web-{B02DEEF2-F061-53BA-C87A-FF5908ACECB1}" dt="2026-03-17T14:57:45.445" v="407" actId="20577"/>
          <ac:spMkLst>
            <pc:docMk/>
            <pc:sldMk cId="3695412493" sldId="282"/>
            <ac:spMk id="3" creationId="{C80BA38A-6F1B-F268-C2CE-A682BBAF9031}"/>
          </ac:spMkLst>
        </pc:spChg>
        <pc:picChg chg="add mod modCrop">
          <ac:chgData name="Lorch, Robert M" userId="S::rlorch@uiowa.edu::fab7d2ca-73fd-43ac-88ae-e4267d71ff13" providerId="AD" clId="Web-{B02DEEF2-F061-53BA-C87A-FF5908ACECB1}" dt="2026-03-17T15:02:58.718" v="412" actId="1076"/>
          <ac:picMkLst>
            <pc:docMk/>
            <pc:sldMk cId="3695412493" sldId="282"/>
            <ac:picMk id="5" creationId="{EBC644CB-0768-F3D6-988F-8DEC1E1C7EE0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4:57:22.554" v="398" actId="1076"/>
          <ac:picMkLst>
            <pc:docMk/>
            <pc:sldMk cId="3695412493" sldId="282"/>
            <ac:picMk id="6" creationId="{602A8E75-24D2-603B-0A12-6981EB7699B0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4:57:30.398" v="401" actId="1076"/>
          <ac:picMkLst>
            <pc:docMk/>
            <pc:sldMk cId="3695412493" sldId="282"/>
            <ac:picMk id="7" creationId="{9F046185-4F73-74F7-AC53-9C81E5572457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4:57:58.197" v="409" actId="1076"/>
          <ac:picMkLst>
            <pc:docMk/>
            <pc:sldMk cId="3695412493" sldId="282"/>
            <ac:picMk id="8" creationId="{1994A92C-CBEC-02AC-F137-771FA8E46C84}"/>
          </ac:picMkLst>
        </pc:picChg>
      </pc:sldChg>
      <pc:sldChg chg="addSp delSp modSp add replId">
        <pc:chgData name="Lorch, Robert M" userId="S::rlorch@uiowa.edu::fab7d2ca-73fd-43ac-88ae-e4267d71ff13" providerId="AD" clId="Web-{B02DEEF2-F061-53BA-C87A-FF5908ACECB1}" dt="2026-03-17T15:20:28.255" v="484" actId="20577"/>
        <pc:sldMkLst>
          <pc:docMk/>
          <pc:sldMk cId="1578314425" sldId="283"/>
        </pc:sldMkLst>
        <pc:spChg chg="mod">
          <ac:chgData name="Lorch, Robert M" userId="S::rlorch@uiowa.edu::fab7d2ca-73fd-43ac-88ae-e4267d71ff13" providerId="AD" clId="Web-{B02DEEF2-F061-53BA-C87A-FF5908ACECB1}" dt="2026-03-17T14:56:50.554" v="392" actId="20577"/>
          <ac:spMkLst>
            <pc:docMk/>
            <pc:sldMk cId="1578314425" sldId="283"/>
            <ac:spMk id="2" creationId="{27BC1D01-275B-5B1A-5B4C-BF551167A338}"/>
          </ac:spMkLst>
        </pc:spChg>
        <pc:spChg chg="mod">
          <ac:chgData name="Lorch, Robert M" userId="S::rlorch@uiowa.edu::fab7d2ca-73fd-43ac-88ae-e4267d71ff13" providerId="AD" clId="Web-{B02DEEF2-F061-53BA-C87A-FF5908ACECB1}" dt="2026-03-17T15:20:28.255" v="484" actId="20577"/>
          <ac:spMkLst>
            <pc:docMk/>
            <pc:sldMk cId="1578314425" sldId="283"/>
            <ac:spMk id="3" creationId="{AEEE72D8-3650-8C68-6BCA-AD446BEAB69B}"/>
          </ac:spMkLst>
        </pc:spChg>
        <pc:picChg chg="add del mod">
          <ac:chgData name="Lorch, Robert M" userId="S::rlorch@uiowa.edu::fab7d2ca-73fd-43ac-88ae-e4267d71ff13" providerId="AD" clId="Web-{B02DEEF2-F061-53BA-C87A-FF5908ACECB1}" dt="2026-03-17T14:56:36.648" v="391"/>
          <ac:picMkLst>
            <pc:docMk/>
            <pc:sldMk cId="1578314425" sldId="283"/>
            <ac:picMk id="5" creationId="{C31C4A7B-277D-C3A4-C1E6-52E08865CEC8}"/>
          </ac:picMkLst>
        </pc:picChg>
      </pc:sldChg>
      <pc:sldChg chg="addSp delSp modSp add replId">
        <pc:chgData name="Lorch, Robert M" userId="S::rlorch@uiowa.edu::fab7d2ca-73fd-43ac-88ae-e4267d71ff13" providerId="AD" clId="Web-{B02DEEF2-F061-53BA-C87A-FF5908ACECB1}" dt="2026-03-17T15:33:26.387" v="492" actId="1076"/>
        <pc:sldMkLst>
          <pc:docMk/>
          <pc:sldMk cId="3083722524" sldId="284"/>
        </pc:sldMkLst>
        <pc:spChg chg="mod">
          <ac:chgData name="Lorch, Robert M" userId="S::rlorch@uiowa.edu::fab7d2ca-73fd-43ac-88ae-e4267d71ff13" providerId="AD" clId="Web-{B02DEEF2-F061-53BA-C87A-FF5908ACECB1}" dt="2026-03-17T14:56:18.976" v="390" actId="20577"/>
          <ac:spMkLst>
            <pc:docMk/>
            <pc:sldMk cId="3083722524" sldId="284"/>
            <ac:spMk id="2" creationId="{A21CA72D-3DB6-EEEC-F530-38F354DB2108}"/>
          </ac:spMkLst>
        </pc:spChg>
        <pc:spChg chg="mod">
          <ac:chgData name="Lorch, Robert M" userId="S::rlorch@uiowa.edu::fab7d2ca-73fd-43ac-88ae-e4267d71ff13" providerId="AD" clId="Web-{B02DEEF2-F061-53BA-C87A-FF5908ACECB1}" dt="2026-03-17T15:04:04.970" v="432" actId="20577"/>
          <ac:spMkLst>
            <pc:docMk/>
            <pc:sldMk cId="3083722524" sldId="284"/>
            <ac:spMk id="3" creationId="{8B030B31-7B36-0E59-A9F1-9E72792BE172}"/>
          </ac:spMkLst>
        </pc:spChg>
        <pc:picChg chg="del">
          <ac:chgData name="Lorch, Robert M" userId="S::rlorch@uiowa.edu::fab7d2ca-73fd-43ac-88ae-e4267d71ff13" providerId="AD" clId="Web-{B02DEEF2-F061-53BA-C87A-FF5908ACECB1}" dt="2026-03-17T14:49:54.047" v="324"/>
          <ac:picMkLst>
            <pc:docMk/>
            <pc:sldMk cId="3083722524" sldId="284"/>
            <ac:picMk id="5" creationId="{63386BA8-9E47-6E14-BA9B-02848EEC451A}"/>
          </ac:picMkLst>
        </pc:picChg>
        <pc:picChg chg="del">
          <ac:chgData name="Lorch, Robert M" userId="S::rlorch@uiowa.edu::fab7d2ca-73fd-43ac-88ae-e4267d71ff13" providerId="AD" clId="Web-{B02DEEF2-F061-53BA-C87A-FF5908ACECB1}" dt="2026-03-17T14:49:54.047" v="323"/>
          <ac:picMkLst>
            <pc:docMk/>
            <pc:sldMk cId="3083722524" sldId="284"/>
            <ac:picMk id="6" creationId="{41F8A0C8-80A6-DB69-BE0C-1CA1BF6EBD5F}"/>
          </ac:picMkLst>
        </pc:picChg>
        <pc:picChg chg="del">
          <ac:chgData name="Lorch, Robert M" userId="S::rlorch@uiowa.edu::fab7d2ca-73fd-43ac-88ae-e4267d71ff13" providerId="AD" clId="Web-{B02DEEF2-F061-53BA-C87A-FF5908ACECB1}" dt="2026-03-17T14:49:54.047" v="322"/>
          <ac:picMkLst>
            <pc:docMk/>
            <pc:sldMk cId="3083722524" sldId="284"/>
            <ac:picMk id="7" creationId="{EFAC6531-9C39-3B16-98DF-A295C90AF6CC}"/>
          </ac:picMkLst>
        </pc:picChg>
        <pc:picChg chg="del">
          <ac:chgData name="Lorch, Robert M" userId="S::rlorch@uiowa.edu::fab7d2ca-73fd-43ac-88ae-e4267d71ff13" providerId="AD" clId="Web-{B02DEEF2-F061-53BA-C87A-FF5908ACECB1}" dt="2026-03-17T14:49:54.047" v="321"/>
          <ac:picMkLst>
            <pc:docMk/>
            <pc:sldMk cId="3083722524" sldId="284"/>
            <ac:picMk id="8" creationId="{14E26DAE-3C77-61E2-F02D-E45F8D2E325C}"/>
          </ac:picMkLst>
        </pc:picChg>
        <pc:picChg chg="add del mod modCrop">
          <ac:chgData name="Lorch, Robert M" userId="S::rlorch@uiowa.edu::fab7d2ca-73fd-43ac-88ae-e4267d71ff13" providerId="AD" clId="Web-{B02DEEF2-F061-53BA-C87A-FF5908ACECB1}" dt="2026-03-17T14:52:27.894" v="334"/>
          <ac:picMkLst>
            <pc:docMk/>
            <pc:sldMk cId="3083722524" sldId="284"/>
            <ac:picMk id="10" creationId="{55FCA19D-DFF3-D808-EC34-9B2BB0E1E6B5}"/>
          </ac:picMkLst>
        </pc:picChg>
        <pc:picChg chg="add mod modCrop">
          <ac:chgData name="Lorch, Robert M" userId="S::rlorch@uiowa.edu::fab7d2ca-73fd-43ac-88ae-e4267d71ff13" providerId="AD" clId="Web-{B02DEEF2-F061-53BA-C87A-FF5908ACECB1}" dt="2026-03-17T15:04:07.736" v="433" actId="1076"/>
          <ac:picMkLst>
            <pc:docMk/>
            <pc:sldMk cId="3083722524" sldId="284"/>
            <ac:picMk id="11" creationId="{C90B600F-7E09-33F1-3529-977C40CDC773}"/>
          </ac:picMkLst>
        </pc:picChg>
        <pc:picChg chg="add del mod modCrop">
          <ac:chgData name="Lorch, Robert M" userId="S::rlorch@uiowa.edu::fab7d2ca-73fd-43ac-88ae-e4267d71ff13" providerId="AD" clId="Web-{B02DEEF2-F061-53BA-C87A-FF5908ACECB1}" dt="2026-03-17T15:33:10.386" v="486"/>
          <ac:picMkLst>
            <pc:docMk/>
            <pc:sldMk cId="3083722524" sldId="284"/>
            <ac:picMk id="12" creationId="{EA1DCA36-6E80-5978-627B-C730443FD38C}"/>
          </ac:picMkLst>
        </pc:picChg>
        <pc:picChg chg="add mod">
          <ac:chgData name="Lorch, Robert M" userId="S::rlorch@uiowa.edu::fab7d2ca-73fd-43ac-88ae-e4267d71ff13" providerId="AD" clId="Web-{B02DEEF2-F061-53BA-C87A-FF5908ACECB1}" dt="2026-03-17T15:33:26.387" v="492" actId="1076"/>
          <ac:picMkLst>
            <pc:docMk/>
            <pc:sldMk cId="3083722524" sldId="284"/>
            <ac:picMk id="13" creationId="{6D084651-EE8D-F9C4-AA9F-5B59EA00E186}"/>
          </ac:picMkLst>
        </pc:picChg>
      </pc:sldChg>
    </pc:docChg>
  </pc:docChgLst>
  <pc:docChgLst>
    <pc:chgData name="Lorch, Robert M" userId="S::rlorch@uiowa.edu::fab7d2ca-73fd-43ac-88ae-e4267d71ff13" providerId="AD" clId="Web-{5BAA2FE9-2AE3-1C6F-7B69-0FE2221A7331}"/>
    <pc:docChg chg="mod addSld delSld modSld sldOrd addMainMaster delMainMaster">
      <pc:chgData name="Lorch, Robert M" userId="S::rlorch@uiowa.edu::fab7d2ca-73fd-43ac-88ae-e4267d71ff13" providerId="AD" clId="Web-{5BAA2FE9-2AE3-1C6F-7B69-0FE2221A7331}" dt="2026-03-17T00:27:49.150" v="4419" actId="20577"/>
      <pc:docMkLst>
        <pc:docMk/>
      </pc:docMkLst>
      <pc:sldChg chg="modSp mod modClrScheme chgLayout">
        <pc:chgData name="Lorch, Robert M" userId="S::rlorch@uiowa.edu::fab7d2ca-73fd-43ac-88ae-e4267d71ff13" providerId="AD" clId="Web-{5BAA2FE9-2AE3-1C6F-7B69-0FE2221A7331}" dt="2026-03-16T21:53:48.846" v="122" actId="20577"/>
        <pc:sldMkLst>
          <pc:docMk/>
          <pc:sldMk cId="109857222" sldId="256"/>
        </pc:sldMkLst>
        <pc:spChg chg="mod ord">
          <ac:chgData name="Lorch, Robert M" userId="S::rlorch@uiowa.edu::fab7d2ca-73fd-43ac-88ae-e4267d71ff13" providerId="AD" clId="Web-{5BAA2FE9-2AE3-1C6F-7B69-0FE2221A7331}" dt="2026-03-16T21:52:42.734" v="93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Lorch, Robert M" userId="S::rlorch@uiowa.edu::fab7d2ca-73fd-43ac-88ae-e4267d71ff13" providerId="AD" clId="Web-{5BAA2FE9-2AE3-1C6F-7B69-0FE2221A7331}" dt="2026-03-16T21:53:48.846" v="12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modClrScheme chgLayout">
        <pc:chgData name="Lorch, Robert M" userId="S::rlorch@uiowa.edu::fab7d2ca-73fd-43ac-88ae-e4267d71ff13" providerId="AD" clId="Web-{5BAA2FE9-2AE3-1C6F-7B69-0FE2221A7331}" dt="2026-03-16T23:56:27.968" v="3394" actId="20577"/>
        <pc:sldMkLst>
          <pc:docMk/>
          <pc:sldMk cId="1572822883" sldId="257"/>
        </pc:sldMkLst>
        <pc:spChg chg="mod ord">
          <ac:chgData name="Lorch, Robert M" userId="S::rlorch@uiowa.edu::fab7d2ca-73fd-43ac-88ae-e4267d71ff13" providerId="AD" clId="Web-{5BAA2FE9-2AE3-1C6F-7B69-0FE2221A7331}" dt="2026-03-16T21:48:27.159" v="63"/>
          <ac:spMkLst>
            <pc:docMk/>
            <pc:sldMk cId="1572822883" sldId="257"/>
            <ac:spMk id="2" creationId="{B973628D-B4CD-4C8A-B76A-1315567874F0}"/>
          </ac:spMkLst>
        </pc:spChg>
        <pc:spChg chg="mod ord">
          <ac:chgData name="Lorch, Robert M" userId="S::rlorch@uiowa.edu::fab7d2ca-73fd-43ac-88ae-e4267d71ff13" providerId="AD" clId="Web-{5BAA2FE9-2AE3-1C6F-7B69-0FE2221A7331}" dt="2026-03-16T23:56:27.968" v="3394" actId="20577"/>
          <ac:spMkLst>
            <pc:docMk/>
            <pc:sldMk cId="1572822883" sldId="257"/>
            <ac:spMk id="3" creationId="{962115ED-9912-DA77-67F5-5CDAA597005B}"/>
          </ac:spMkLst>
        </pc:spChg>
      </pc:sldChg>
      <pc:sldChg chg="add del replId">
        <pc:chgData name="Lorch, Robert M" userId="S::rlorch@uiowa.edu::fab7d2ca-73fd-43ac-88ae-e4267d71ff13" providerId="AD" clId="Web-{5BAA2FE9-2AE3-1C6F-7B69-0FE2221A7331}" dt="2026-03-16T21:43:31.362" v="38"/>
        <pc:sldMkLst>
          <pc:docMk/>
          <pc:sldMk cId="474723863" sldId="258"/>
        </pc:sldMkLst>
      </pc:sldChg>
      <pc:sldChg chg="modSp new del mod modClrScheme chgLayout">
        <pc:chgData name="Lorch, Robert M" userId="S::rlorch@uiowa.edu::fab7d2ca-73fd-43ac-88ae-e4267d71ff13" providerId="AD" clId="Web-{5BAA2FE9-2AE3-1C6F-7B69-0FE2221A7331}" dt="2026-03-16T21:54:04.018" v="132"/>
        <pc:sldMkLst>
          <pc:docMk/>
          <pc:sldMk cId="4139694835" sldId="258"/>
        </pc:sldMkLst>
        <pc:spChg chg="mod ord">
          <ac:chgData name="Lorch, Robert M" userId="S::rlorch@uiowa.edu::fab7d2ca-73fd-43ac-88ae-e4267d71ff13" providerId="AD" clId="Web-{5BAA2FE9-2AE3-1C6F-7B69-0FE2221A7331}" dt="2026-03-16T21:48:27.159" v="63"/>
          <ac:spMkLst>
            <pc:docMk/>
            <pc:sldMk cId="4139694835" sldId="258"/>
            <ac:spMk id="2" creationId="{21A54794-2CEE-C009-941E-FD0159BACCFF}"/>
          </ac:spMkLst>
        </pc:spChg>
        <pc:spChg chg="mod ord">
          <ac:chgData name="Lorch, Robert M" userId="S::rlorch@uiowa.edu::fab7d2ca-73fd-43ac-88ae-e4267d71ff13" providerId="AD" clId="Web-{5BAA2FE9-2AE3-1C6F-7B69-0FE2221A7331}" dt="2026-03-16T21:48:27.159" v="63"/>
          <ac:spMkLst>
            <pc:docMk/>
            <pc:sldMk cId="4139694835" sldId="258"/>
            <ac:spMk id="3" creationId="{EED0854E-4B26-C12F-5984-841F06E5148D}"/>
          </ac:spMkLst>
        </pc:spChg>
      </pc:sldChg>
      <pc:sldChg chg="new del">
        <pc:chgData name="Lorch, Robert M" userId="S::rlorch@uiowa.edu::fab7d2ca-73fd-43ac-88ae-e4267d71ff13" providerId="AD" clId="Web-{5BAA2FE9-2AE3-1C6F-7B69-0FE2221A7331}" dt="2026-03-16T21:47:49.204" v="57"/>
        <pc:sldMkLst>
          <pc:docMk/>
          <pc:sldMk cId="2514177281" sldId="259"/>
        </pc:sldMkLst>
      </pc:sldChg>
      <pc:sldChg chg="addSp modSp add ord replId">
        <pc:chgData name="Lorch, Robert M" userId="S::rlorch@uiowa.edu::fab7d2ca-73fd-43ac-88ae-e4267d71ff13" providerId="AD" clId="Web-{5BAA2FE9-2AE3-1C6F-7B69-0FE2221A7331}" dt="2026-03-16T21:52:30.593" v="92"/>
        <pc:sldMkLst>
          <pc:docMk/>
          <pc:sldMk cId="3893009471" sldId="259"/>
        </pc:sldMkLst>
        <pc:spChg chg="mod">
          <ac:chgData name="Lorch, Robert M" userId="S::rlorch@uiowa.edu::fab7d2ca-73fd-43ac-88ae-e4267d71ff13" providerId="AD" clId="Web-{5BAA2FE9-2AE3-1C6F-7B69-0FE2221A7331}" dt="2026-03-16T21:52:26.702" v="91" actId="20577"/>
          <ac:spMkLst>
            <pc:docMk/>
            <pc:sldMk cId="3893009471" sldId="259"/>
            <ac:spMk id="2" creationId="{14A76D21-2912-7FB4-938B-6F91AE4A34C8}"/>
          </ac:spMkLst>
        </pc:spChg>
        <pc:spChg chg="mod">
          <ac:chgData name="Lorch, Robert M" userId="S::rlorch@uiowa.edu::fab7d2ca-73fd-43ac-88ae-e4267d71ff13" providerId="AD" clId="Web-{5BAA2FE9-2AE3-1C6F-7B69-0FE2221A7331}" dt="2026-03-16T21:51:56.858" v="86" actId="20577"/>
          <ac:spMkLst>
            <pc:docMk/>
            <pc:sldMk cId="3893009471" sldId="259"/>
            <ac:spMk id="3" creationId="{79199D7C-F5B0-7CD6-91DA-759916D20D7F}"/>
          </ac:spMkLst>
        </pc:spChg>
        <pc:spChg chg="add mod">
          <ac:chgData name="Lorch, Robert M" userId="S::rlorch@uiowa.edu::fab7d2ca-73fd-43ac-88ae-e4267d71ff13" providerId="AD" clId="Web-{5BAA2FE9-2AE3-1C6F-7B69-0FE2221A7331}" dt="2026-03-16T21:52:30.593" v="92"/>
          <ac:spMkLst>
            <pc:docMk/>
            <pc:sldMk cId="3893009471" sldId="259"/>
            <ac:spMk id="4" creationId="{22711865-C81F-F8BC-09CB-FA46AAD3DEAF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2:29:24.713" v="1414" actId="20577"/>
        <pc:sldMkLst>
          <pc:docMk/>
          <pc:sldMk cId="3827240189" sldId="260"/>
        </pc:sldMkLst>
        <pc:spChg chg="mod">
          <ac:chgData name="Lorch, Robert M" userId="S::rlorch@uiowa.edu::fab7d2ca-73fd-43ac-88ae-e4267d71ff13" providerId="AD" clId="Web-{5BAA2FE9-2AE3-1C6F-7B69-0FE2221A7331}" dt="2026-03-16T21:54:01.174" v="131" actId="20577"/>
          <ac:spMkLst>
            <pc:docMk/>
            <pc:sldMk cId="3827240189" sldId="260"/>
            <ac:spMk id="2" creationId="{53504503-9F41-4A11-446B-56A49286A5B6}"/>
          </ac:spMkLst>
        </pc:spChg>
        <pc:spChg chg="mod">
          <ac:chgData name="Lorch, Robert M" userId="S::rlorch@uiowa.edu::fab7d2ca-73fd-43ac-88ae-e4267d71ff13" providerId="AD" clId="Web-{5BAA2FE9-2AE3-1C6F-7B69-0FE2221A7331}" dt="2026-03-16T22:29:24.713" v="1414" actId="20577"/>
          <ac:spMkLst>
            <pc:docMk/>
            <pc:sldMk cId="3827240189" sldId="260"/>
            <ac:spMk id="3" creationId="{408FE3CC-B3C1-2EB5-2B26-CEE053F6D54F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7T00:15:43.619" v="3974"/>
        <pc:sldMkLst>
          <pc:docMk/>
          <pc:sldMk cId="2740590959" sldId="261"/>
        </pc:sldMkLst>
        <pc:spChg chg="mod">
          <ac:chgData name="Lorch, Robert M" userId="S::rlorch@uiowa.edu::fab7d2ca-73fd-43ac-88ae-e4267d71ff13" providerId="AD" clId="Web-{5BAA2FE9-2AE3-1C6F-7B69-0FE2221A7331}" dt="2026-03-17T00:15:43.619" v="3974"/>
          <ac:spMkLst>
            <pc:docMk/>
            <pc:sldMk cId="2740590959" sldId="261"/>
            <ac:spMk id="2" creationId="{E192FB49-4862-A0D7-FAD6-F2105BC22822}"/>
          </ac:spMkLst>
        </pc:spChg>
        <pc:spChg chg="mod">
          <ac:chgData name="Lorch, Robert M" userId="S::rlorch@uiowa.edu::fab7d2ca-73fd-43ac-88ae-e4267d71ff13" providerId="AD" clId="Web-{5BAA2FE9-2AE3-1C6F-7B69-0FE2221A7331}" dt="2026-03-16T23:31:42.477" v="2887" actId="20577"/>
          <ac:spMkLst>
            <pc:docMk/>
            <pc:sldMk cId="2740590959" sldId="261"/>
            <ac:spMk id="3" creationId="{AF5CADC4-C336-F3FF-CB42-A10E1EA9086C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3:28:20.801" v="2691" actId="20577"/>
        <pc:sldMkLst>
          <pc:docMk/>
          <pc:sldMk cId="403707338" sldId="262"/>
        </pc:sldMkLst>
        <pc:spChg chg="mod">
          <ac:chgData name="Lorch, Robert M" userId="S::rlorch@uiowa.edu::fab7d2ca-73fd-43ac-88ae-e4267d71ff13" providerId="AD" clId="Web-{5BAA2FE9-2AE3-1C6F-7B69-0FE2221A7331}" dt="2026-03-16T23:28:20.801" v="2691" actId="20577"/>
          <ac:spMkLst>
            <pc:docMk/>
            <pc:sldMk cId="403707338" sldId="262"/>
            <ac:spMk id="2" creationId="{3146B134-327B-0941-EFA2-626FD1C1FF1E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3:26:47.500" v="2671" actId="20577"/>
        <pc:sldMkLst>
          <pc:docMk/>
          <pc:sldMk cId="1846142589" sldId="263"/>
        </pc:sldMkLst>
        <pc:spChg chg="mod">
          <ac:chgData name="Lorch, Robert M" userId="S::rlorch@uiowa.edu::fab7d2ca-73fd-43ac-88ae-e4267d71ff13" providerId="AD" clId="Web-{5BAA2FE9-2AE3-1C6F-7B69-0FE2221A7331}" dt="2026-03-16T22:17:06.992" v="1087" actId="20577"/>
          <ac:spMkLst>
            <pc:docMk/>
            <pc:sldMk cId="1846142589" sldId="263"/>
            <ac:spMk id="2" creationId="{36739B0F-70D7-34B6-60AC-1068790DDFAA}"/>
          </ac:spMkLst>
        </pc:spChg>
        <pc:spChg chg="mod">
          <ac:chgData name="Lorch, Robert M" userId="S::rlorch@uiowa.edu::fab7d2ca-73fd-43ac-88ae-e4267d71ff13" providerId="AD" clId="Web-{5BAA2FE9-2AE3-1C6F-7B69-0FE2221A7331}" dt="2026-03-16T23:26:47.500" v="2671" actId="20577"/>
          <ac:spMkLst>
            <pc:docMk/>
            <pc:sldMk cId="1846142589" sldId="263"/>
            <ac:spMk id="3" creationId="{E3678F8D-41CB-3795-3829-9EC13AAB82AC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7T00:15:54.744" v="3991"/>
        <pc:sldMkLst>
          <pc:docMk/>
          <pc:sldMk cId="941070285" sldId="264"/>
        </pc:sldMkLst>
        <pc:spChg chg="mod">
          <ac:chgData name="Lorch, Robert M" userId="S::rlorch@uiowa.edu::fab7d2ca-73fd-43ac-88ae-e4267d71ff13" providerId="AD" clId="Web-{5BAA2FE9-2AE3-1C6F-7B69-0FE2221A7331}" dt="2026-03-17T00:15:54.744" v="3991"/>
          <ac:spMkLst>
            <pc:docMk/>
            <pc:sldMk cId="941070285" sldId="264"/>
            <ac:spMk id="2" creationId="{8F692418-F66A-8937-E85D-04EB60050446}"/>
          </ac:spMkLst>
        </pc:spChg>
        <pc:spChg chg="mod">
          <ac:chgData name="Lorch, Robert M" userId="S::rlorch@uiowa.edu::fab7d2ca-73fd-43ac-88ae-e4267d71ff13" providerId="AD" clId="Web-{5BAA2FE9-2AE3-1C6F-7B69-0FE2221A7331}" dt="2026-03-16T23:32:08.649" v="2890" actId="20577"/>
          <ac:spMkLst>
            <pc:docMk/>
            <pc:sldMk cId="941070285" sldId="264"/>
            <ac:spMk id="3" creationId="{512FFBEF-3548-B961-3FD8-7CC3479BE07C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2:18:12.211" v="1145" actId="20577"/>
        <pc:sldMkLst>
          <pc:docMk/>
          <pc:sldMk cId="2922320612" sldId="265"/>
        </pc:sldMkLst>
        <pc:spChg chg="mod">
          <ac:chgData name="Lorch, Robert M" userId="S::rlorch@uiowa.edu::fab7d2ca-73fd-43ac-88ae-e4267d71ff13" providerId="AD" clId="Web-{5BAA2FE9-2AE3-1C6F-7B69-0FE2221A7331}" dt="2026-03-16T22:17:40.961" v="1103" actId="20577"/>
          <ac:spMkLst>
            <pc:docMk/>
            <pc:sldMk cId="2922320612" sldId="265"/>
            <ac:spMk id="2" creationId="{10F26390-A99B-8227-83E3-FF53C34F821C}"/>
          </ac:spMkLst>
        </pc:spChg>
        <pc:spChg chg="mod">
          <ac:chgData name="Lorch, Robert M" userId="S::rlorch@uiowa.edu::fab7d2ca-73fd-43ac-88ae-e4267d71ff13" providerId="AD" clId="Web-{5BAA2FE9-2AE3-1C6F-7B69-0FE2221A7331}" dt="2026-03-16T22:18:12.211" v="1145" actId="20577"/>
          <ac:spMkLst>
            <pc:docMk/>
            <pc:sldMk cId="2922320612" sldId="265"/>
            <ac:spMk id="3" creationId="{CE79F317-AD5E-66F2-F397-E45910B43883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2:29:31.041" v="1416" actId="20577"/>
        <pc:sldMkLst>
          <pc:docMk/>
          <pc:sldMk cId="1270319923" sldId="266"/>
        </pc:sldMkLst>
        <pc:spChg chg="mod">
          <ac:chgData name="Lorch, Robert M" userId="S::rlorch@uiowa.edu::fab7d2ca-73fd-43ac-88ae-e4267d71ff13" providerId="AD" clId="Web-{5BAA2FE9-2AE3-1C6F-7B69-0FE2221A7331}" dt="2026-03-16T22:29:31.041" v="1416" actId="20577"/>
          <ac:spMkLst>
            <pc:docMk/>
            <pc:sldMk cId="1270319923" sldId="266"/>
            <ac:spMk id="3" creationId="{175B88B1-2267-9A92-9381-94A9E59DCC13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29:39.697" v="1422" actId="20577"/>
        <pc:sldMkLst>
          <pc:docMk/>
          <pc:sldMk cId="3132142358" sldId="267"/>
        </pc:sldMkLst>
        <pc:spChg chg="mod">
          <ac:chgData name="Lorch, Robert M" userId="S::rlorch@uiowa.edu::fab7d2ca-73fd-43ac-88ae-e4267d71ff13" providerId="AD" clId="Web-{5BAA2FE9-2AE3-1C6F-7B69-0FE2221A7331}" dt="2026-03-16T22:29:39.697" v="1422" actId="20577"/>
          <ac:spMkLst>
            <pc:docMk/>
            <pc:sldMk cId="3132142358" sldId="267"/>
            <ac:spMk id="3" creationId="{304188DF-1799-9856-8C7E-3B78A2D6F14D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6T22:24:34.781" v="1407" actId="20577"/>
        <pc:sldMkLst>
          <pc:docMk/>
          <pc:sldMk cId="2436005611" sldId="268"/>
        </pc:sldMkLst>
        <pc:spChg chg="mod">
          <ac:chgData name="Lorch, Robert M" userId="S::rlorch@uiowa.edu::fab7d2ca-73fd-43ac-88ae-e4267d71ff13" providerId="AD" clId="Web-{5BAA2FE9-2AE3-1C6F-7B69-0FE2221A7331}" dt="2026-03-16T22:20:26.029" v="1202" actId="20577"/>
          <ac:spMkLst>
            <pc:docMk/>
            <pc:sldMk cId="2436005611" sldId="268"/>
            <ac:spMk id="2" creationId="{D54537C6-935D-A904-71A1-664F47E1648F}"/>
          </ac:spMkLst>
        </pc:spChg>
        <pc:spChg chg="mod">
          <ac:chgData name="Lorch, Robert M" userId="S::rlorch@uiowa.edu::fab7d2ca-73fd-43ac-88ae-e4267d71ff13" providerId="AD" clId="Web-{5BAA2FE9-2AE3-1C6F-7B69-0FE2221A7331}" dt="2026-03-16T22:24:34.781" v="1407" actId="20577"/>
          <ac:spMkLst>
            <pc:docMk/>
            <pc:sldMk cId="2436005611" sldId="268"/>
            <ac:spMk id="3" creationId="{21D266E0-3AE2-538B-2897-FC68DF25BF39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45:34.473" v="2000" actId="20577"/>
        <pc:sldMkLst>
          <pc:docMk/>
          <pc:sldMk cId="2258023790" sldId="269"/>
        </pc:sldMkLst>
        <pc:spChg chg="mod">
          <ac:chgData name="Lorch, Robert M" userId="S::rlorch@uiowa.edu::fab7d2ca-73fd-43ac-88ae-e4267d71ff13" providerId="AD" clId="Web-{5BAA2FE9-2AE3-1C6F-7B69-0FE2221A7331}" dt="2026-03-16T22:20:34.530" v="1213" actId="20577"/>
          <ac:spMkLst>
            <pc:docMk/>
            <pc:sldMk cId="2258023790" sldId="269"/>
            <ac:spMk id="2" creationId="{E443A17B-322A-09FE-4B4C-0AFA6D7224E0}"/>
          </ac:spMkLst>
        </pc:spChg>
        <pc:spChg chg="mod">
          <ac:chgData name="Lorch, Robert M" userId="S::rlorch@uiowa.edu::fab7d2ca-73fd-43ac-88ae-e4267d71ff13" providerId="AD" clId="Web-{5BAA2FE9-2AE3-1C6F-7B69-0FE2221A7331}" dt="2026-03-16T22:45:34.473" v="2000" actId="20577"/>
          <ac:spMkLst>
            <pc:docMk/>
            <pc:sldMk cId="2258023790" sldId="269"/>
            <ac:spMk id="3" creationId="{BAD9A992-E5F6-1706-8A28-87A2E4222AB4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30:02.157" v="1429" actId="20577"/>
        <pc:sldMkLst>
          <pc:docMk/>
          <pc:sldMk cId="2134368667" sldId="270"/>
        </pc:sldMkLst>
        <pc:spChg chg="mod">
          <ac:chgData name="Lorch, Robert M" userId="S::rlorch@uiowa.edu::fab7d2ca-73fd-43ac-88ae-e4267d71ff13" providerId="AD" clId="Web-{5BAA2FE9-2AE3-1C6F-7B69-0FE2221A7331}" dt="2026-03-16T22:30:02.157" v="1429" actId="20577"/>
          <ac:spMkLst>
            <pc:docMk/>
            <pc:sldMk cId="2134368667" sldId="270"/>
            <ac:spMk id="3" creationId="{7E65C1B9-E4DF-459B-F285-ACE5151B9C28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30:17.133" v="1436" actId="20577"/>
        <pc:sldMkLst>
          <pc:docMk/>
          <pc:sldMk cId="3988185736" sldId="271"/>
        </pc:sldMkLst>
        <pc:spChg chg="mod">
          <ac:chgData name="Lorch, Robert M" userId="S::rlorch@uiowa.edu::fab7d2ca-73fd-43ac-88ae-e4267d71ff13" providerId="AD" clId="Web-{5BAA2FE9-2AE3-1C6F-7B69-0FE2221A7331}" dt="2026-03-16T22:30:17.133" v="1436" actId="20577"/>
          <ac:spMkLst>
            <pc:docMk/>
            <pc:sldMk cId="3988185736" sldId="271"/>
            <ac:spMk id="3" creationId="{72A39524-62D8-EAA7-21B2-F034F4C30BA5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30:33.198" v="1442" actId="20577"/>
        <pc:sldMkLst>
          <pc:docMk/>
          <pc:sldMk cId="4156527928" sldId="272"/>
        </pc:sldMkLst>
        <pc:spChg chg="mod">
          <ac:chgData name="Lorch, Robert M" userId="S::rlorch@uiowa.edu::fab7d2ca-73fd-43ac-88ae-e4267d71ff13" providerId="AD" clId="Web-{5BAA2FE9-2AE3-1C6F-7B69-0FE2221A7331}" dt="2026-03-16T22:30:33.198" v="1442" actId="20577"/>
          <ac:spMkLst>
            <pc:docMk/>
            <pc:sldMk cId="4156527928" sldId="272"/>
            <ac:spMk id="3" creationId="{8B48AD0F-4517-B249-7CE9-91AC653710AA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2:33:30.172" v="1595" actId="20577"/>
        <pc:sldMkLst>
          <pc:docMk/>
          <pc:sldMk cId="2042930995" sldId="273"/>
        </pc:sldMkLst>
        <pc:spChg chg="mod">
          <ac:chgData name="Lorch, Robert M" userId="S::rlorch@uiowa.edu::fab7d2ca-73fd-43ac-88ae-e4267d71ff13" providerId="AD" clId="Web-{5BAA2FE9-2AE3-1C6F-7B69-0FE2221A7331}" dt="2026-03-16T22:30:45.168" v="1447" actId="20577"/>
          <ac:spMkLst>
            <pc:docMk/>
            <pc:sldMk cId="2042930995" sldId="273"/>
            <ac:spMk id="2" creationId="{B3B9F69A-6D95-337C-7195-5237D2D26DA8}"/>
          </ac:spMkLst>
        </pc:spChg>
        <pc:spChg chg="mod">
          <ac:chgData name="Lorch, Robert M" userId="S::rlorch@uiowa.edu::fab7d2ca-73fd-43ac-88ae-e4267d71ff13" providerId="AD" clId="Web-{5BAA2FE9-2AE3-1C6F-7B69-0FE2221A7331}" dt="2026-03-16T22:33:30.172" v="1595" actId="20577"/>
          <ac:spMkLst>
            <pc:docMk/>
            <pc:sldMk cId="2042930995" sldId="273"/>
            <ac:spMk id="3" creationId="{C0C6950D-385F-A98D-531F-5975D69E3B2C}"/>
          </ac:spMkLst>
        </pc:spChg>
      </pc:sldChg>
      <pc:sldChg chg="addSp delSp modSp add replId">
        <pc:chgData name="Lorch, Robert M" userId="S::rlorch@uiowa.edu::fab7d2ca-73fd-43ac-88ae-e4267d71ff13" providerId="AD" clId="Web-{5BAA2FE9-2AE3-1C6F-7B69-0FE2221A7331}" dt="2026-03-17T00:20:26.637" v="4034" actId="20577"/>
        <pc:sldMkLst>
          <pc:docMk/>
          <pc:sldMk cId="2649711781" sldId="274"/>
        </pc:sldMkLst>
        <pc:spChg chg="mod">
          <ac:chgData name="Lorch, Robert M" userId="S::rlorch@uiowa.edu::fab7d2ca-73fd-43ac-88ae-e4267d71ff13" providerId="AD" clId="Web-{5BAA2FE9-2AE3-1C6F-7B69-0FE2221A7331}" dt="2026-03-16T22:46:14.802" v="2015" actId="20577"/>
          <ac:spMkLst>
            <pc:docMk/>
            <pc:sldMk cId="2649711781" sldId="274"/>
            <ac:spMk id="2" creationId="{B13E951D-1B73-58A4-4D65-EEC266C2EA4C}"/>
          </ac:spMkLst>
        </pc:spChg>
        <pc:spChg chg="mod">
          <ac:chgData name="Lorch, Robert M" userId="S::rlorch@uiowa.edu::fab7d2ca-73fd-43ac-88ae-e4267d71ff13" providerId="AD" clId="Web-{5BAA2FE9-2AE3-1C6F-7B69-0FE2221A7331}" dt="2026-03-17T00:20:26.637" v="4034" actId="20577"/>
          <ac:spMkLst>
            <pc:docMk/>
            <pc:sldMk cId="2649711781" sldId="274"/>
            <ac:spMk id="3" creationId="{ADA3750E-F487-A549-7A81-AEE104966113}"/>
          </ac:spMkLst>
        </pc:spChg>
        <pc:picChg chg="add del mod">
          <ac:chgData name="Lorch, Robert M" userId="S::rlorch@uiowa.edu::fab7d2ca-73fd-43ac-88ae-e4267d71ff13" providerId="AD" clId="Web-{5BAA2FE9-2AE3-1C6F-7B69-0FE2221A7331}" dt="2026-03-17T00:17:41.448" v="3995"/>
          <ac:picMkLst>
            <pc:docMk/>
            <pc:sldMk cId="2649711781" sldId="274"/>
            <ac:picMk id="5" creationId="{199B6E32-0DC6-E8A3-9F6E-5A17B6A7A221}"/>
          </ac:picMkLst>
        </pc:picChg>
        <pc:picChg chg="add mod modCrop">
          <ac:chgData name="Lorch, Robert M" userId="S::rlorch@uiowa.edu::fab7d2ca-73fd-43ac-88ae-e4267d71ff13" providerId="AD" clId="Web-{5BAA2FE9-2AE3-1C6F-7B69-0FE2221A7331}" dt="2026-03-17T00:19:09.761" v="4011" actId="1076"/>
          <ac:picMkLst>
            <pc:docMk/>
            <pc:sldMk cId="2649711781" sldId="274"/>
            <ac:picMk id="6" creationId="{FAE4E3F3-7E89-2B70-F6A4-B554A5174BF4}"/>
          </ac:picMkLst>
        </pc:picChg>
        <pc:picChg chg="add mod">
          <ac:chgData name="Lorch, Robert M" userId="S::rlorch@uiowa.edu::fab7d2ca-73fd-43ac-88ae-e4267d71ff13" providerId="AD" clId="Web-{5BAA2FE9-2AE3-1C6F-7B69-0FE2221A7331}" dt="2026-03-17T00:19:39.340" v="4025" actId="1076"/>
          <ac:picMkLst>
            <pc:docMk/>
            <pc:sldMk cId="2649711781" sldId="274"/>
            <ac:picMk id="7" creationId="{46C7BAC6-E453-4B42-B23B-F16AF3C00A5B}"/>
          </ac:picMkLst>
        </pc:picChg>
      </pc:sldChg>
      <pc:sldChg chg="modSp add ord replId">
        <pc:chgData name="Lorch, Robert M" userId="S::rlorch@uiowa.edu::fab7d2ca-73fd-43ac-88ae-e4267d71ff13" providerId="AD" clId="Web-{5BAA2FE9-2AE3-1C6F-7B69-0FE2221A7331}" dt="2026-03-16T23:34:52.528" v="3106" actId="20577"/>
        <pc:sldMkLst>
          <pc:docMk/>
          <pc:sldMk cId="4162872853" sldId="275"/>
        </pc:sldMkLst>
        <pc:spChg chg="mod">
          <ac:chgData name="Lorch, Robert M" userId="S::rlorch@uiowa.edu::fab7d2ca-73fd-43ac-88ae-e4267d71ff13" providerId="AD" clId="Web-{5BAA2FE9-2AE3-1C6F-7B69-0FE2221A7331}" dt="2026-03-16T23:29:21.631" v="2717"/>
          <ac:spMkLst>
            <pc:docMk/>
            <pc:sldMk cId="4162872853" sldId="275"/>
            <ac:spMk id="2" creationId="{8E06837E-A714-7106-AF8E-5FEAA148D6AC}"/>
          </ac:spMkLst>
        </pc:spChg>
        <pc:spChg chg="mod">
          <ac:chgData name="Lorch, Robert M" userId="S::rlorch@uiowa.edu::fab7d2ca-73fd-43ac-88ae-e4267d71ff13" providerId="AD" clId="Web-{5BAA2FE9-2AE3-1C6F-7B69-0FE2221A7331}" dt="2026-03-16T23:34:52.528" v="3106" actId="20577"/>
          <ac:spMkLst>
            <pc:docMk/>
            <pc:sldMk cId="4162872853" sldId="275"/>
            <ac:spMk id="3" creationId="{1AB62D15-35BC-BCF6-BE0F-8854AFE972F8}"/>
          </ac:spMkLst>
        </pc:spChg>
      </pc:sldChg>
      <pc:sldChg chg="modSp add ord replId">
        <pc:chgData name="Lorch, Robert M" userId="S::rlorch@uiowa.edu::fab7d2ca-73fd-43ac-88ae-e4267d71ff13" providerId="AD" clId="Web-{5BAA2FE9-2AE3-1C6F-7B69-0FE2221A7331}" dt="2026-03-16T23:35:48.548" v="3193" actId="20577"/>
        <pc:sldMkLst>
          <pc:docMk/>
          <pc:sldMk cId="775107580" sldId="276"/>
        </pc:sldMkLst>
        <pc:spChg chg="mod">
          <ac:chgData name="Lorch, Robert M" userId="S::rlorch@uiowa.edu::fab7d2ca-73fd-43ac-88ae-e4267d71ff13" providerId="AD" clId="Web-{5BAA2FE9-2AE3-1C6F-7B69-0FE2221A7331}" dt="2026-03-16T23:29:42.787" v="2771" actId="20577"/>
          <ac:spMkLst>
            <pc:docMk/>
            <pc:sldMk cId="775107580" sldId="276"/>
            <ac:spMk id="2" creationId="{65C09264-82F7-B022-27F1-66F6F0CE0435}"/>
          </ac:spMkLst>
        </pc:spChg>
        <pc:spChg chg="mod">
          <ac:chgData name="Lorch, Robert M" userId="S::rlorch@uiowa.edu::fab7d2ca-73fd-43ac-88ae-e4267d71ff13" providerId="AD" clId="Web-{5BAA2FE9-2AE3-1C6F-7B69-0FE2221A7331}" dt="2026-03-16T23:35:48.548" v="3193" actId="20577"/>
          <ac:spMkLst>
            <pc:docMk/>
            <pc:sldMk cId="775107580" sldId="276"/>
            <ac:spMk id="3" creationId="{CDEF22A8-9E30-F8AE-5C33-7B06409382C2}"/>
          </ac:spMkLst>
        </pc:spChg>
      </pc:sldChg>
      <pc:sldChg chg="modSp add replId">
        <pc:chgData name="Lorch, Robert M" userId="S::rlorch@uiowa.edu::fab7d2ca-73fd-43ac-88ae-e4267d71ff13" providerId="AD" clId="Web-{5BAA2FE9-2AE3-1C6F-7B69-0FE2221A7331}" dt="2026-03-17T00:27:49.150" v="4419" actId="20577"/>
        <pc:sldMkLst>
          <pc:docMk/>
          <pc:sldMk cId="2390616772" sldId="277"/>
        </pc:sldMkLst>
        <pc:spChg chg="mod">
          <ac:chgData name="Lorch, Robert M" userId="S::rlorch@uiowa.edu::fab7d2ca-73fd-43ac-88ae-e4267d71ff13" providerId="AD" clId="Web-{5BAA2FE9-2AE3-1C6F-7B69-0FE2221A7331}" dt="2026-03-17T00:27:49.150" v="4419" actId="20577"/>
          <ac:spMkLst>
            <pc:docMk/>
            <pc:sldMk cId="2390616772" sldId="277"/>
            <ac:spMk id="3" creationId="{A2769A3B-1AD2-7DE9-BA3C-9D6741CF1CF4}"/>
          </ac:spMkLst>
        </pc:spChg>
      </pc:sldChg>
      <pc:sldChg chg="addSp modSp add replId">
        <pc:chgData name="Lorch, Robert M" userId="S::rlorch@uiowa.edu::fab7d2ca-73fd-43ac-88ae-e4267d71ff13" providerId="AD" clId="Web-{5BAA2FE9-2AE3-1C6F-7B69-0FE2221A7331}" dt="2026-03-17T00:23:21.248" v="4067" actId="1076"/>
        <pc:sldMkLst>
          <pc:docMk/>
          <pc:sldMk cId="2589333419" sldId="278"/>
        </pc:sldMkLst>
        <pc:spChg chg="mod">
          <ac:chgData name="Lorch, Robert M" userId="S::rlorch@uiowa.edu::fab7d2ca-73fd-43ac-88ae-e4267d71ff13" providerId="AD" clId="Web-{5BAA2FE9-2AE3-1C6F-7B69-0FE2221A7331}" dt="2026-03-17T00:23:21.248" v="4067" actId="1076"/>
          <ac:spMkLst>
            <pc:docMk/>
            <pc:sldMk cId="2589333419" sldId="278"/>
            <ac:spMk id="3" creationId="{FA8AA9FF-9E9C-D585-7639-BD2ADE435A3B}"/>
          </ac:spMkLst>
        </pc:spChg>
        <pc:picChg chg="add mod">
          <ac:chgData name="Lorch, Robert M" userId="S::rlorch@uiowa.edu::fab7d2ca-73fd-43ac-88ae-e4267d71ff13" providerId="AD" clId="Web-{5BAA2FE9-2AE3-1C6F-7B69-0FE2221A7331}" dt="2026-03-17T00:22:56.842" v="4052" actId="1076"/>
          <ac:picMkLst>
            <pc:docMk/>
            <pc:sldMk cId="2589333419" sldId="278"/>
            <ac:picMk id="5" creationId="{E24F264D-0BAD-E1FE-CF19-8575F2BBE2DD}"/>
          </ac:picMkLst>
        </pc:picChg>
      </pc:sldChg>
      <pc:sldMasterChg chg="del delSldLayout">
        <pc:chgData name="Lorch, Robert M" userId="S::rlorch@uiowa.edu::fab7d2ca-73fd-43ac-88ae-e4267d71ff13" providerId="AD" clId="Web-{5BAA2FE9-2AE3-1C6F-7B69-0FE2221A7331}" dt="2026-03-16T21:48:25.644" v="62"/>
        <pc:sldMasterMkLst>
          <pc:docMk/>
          <pc:sldMasterMk cId="2460954070" sldId="2147483660"/>
        </pc:sldMasterMkLst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Lorch, Robert M" userId="S::rlorch@uiowa.edu::fab7d2ca-73fd-43ac-88ae-e4267d71ff13" providerId="AD" clId="Web-{5BAA2FE9-2AE3-1C6F-7B69-0FE2221A7331}" dt="2026-03-16T21:48:25.644" v="62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Lorch, Robert M" userId="S::rlorch@uiowa.edu::fab7d2ca-73fd-43ac-88ae-e4267d71ff13" providerId="AD" clId="Web-{5BAA2FE9-2AE3-1C6F-7B69-0FE2221A7331}" dt="2026-03-16T21:48:27.159" v="63"/>
        <pc:sldMasterMkLst>
          <pc:docMk/>
          <pc:sldMasterMk cId="2084619209" sldId="2147483672"/>
        </pc:sldMasterMkLst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367300181" sldId="2147483673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448326141" sldId="2147483674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3228152714" sldId="2147483675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223577600" sldId="2147483676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519939757" sldId="2147483677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3580781506" sldId="2147483678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3994299043" sldId="2147483679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928482330" sldId="2147483680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4167794681" sldId="2147483681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969230434" sldId="2147483682"/>
          </pc:sldLayoutMkLst>
        </pc:sldLayoutChg>
        <pc:sldLayoutChg chg="add del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084619209" sldId="2147483672"/>
            <pc:sldLayoutMk cId="1187278210" sldId="2147483683"/>
          </pc:sldLayoutMkLst>
        </pc:sldLayoutChg>
      </pc:sldMasterChg>
      <pc:sldMasterChg chg="add addSldLayout modSldLayout">
        <pc:chgData name="Lorch, Robert M" userId="S::rlorch@uiowa.edu::fab7d2ca-73fd-43ac-88ae-e4267d71ff13" providerId="AD" clId="Web-{5BAA2FE9-2AE3-1C6F-7B69-0FE2221A7331}" dt="2026-03-16T21:48:27.159" v="63"/>
        <pc:sldMasterMkLst>
          <pc:docMk/>
          <pc:sldMasterMk cId="2333122478" sldId="2147483684"/>
        </pc:sldMasterMkLst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70120977" sldId="2147483685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2708266053" sldId="2147483686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4001219097" sldId="2147483687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1369839402" sldId="2147483688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550839062" sldId="2147483689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3488069156" sldId="2147483690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1791349665" sldId="2147483691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972709162" sldId="2147483692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1951958673" sldId="2147483693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1073315943" sldId="2147483694"/>
          </pc:sldLayoutMkLst>
        </pc:sldLayoutChg>
        <pc:sldLayoutChg chg="add mod replId">
          <pc:chgData name="Lorch, Robert M" userId="S::rlorch@uiowa.edu::fab7d2ca-73fd-43ac-88ae-e4267d71ff13" providerId="AD" clId="Web-{5BAA2FE9-2AE3-1C6F-7B69-0FE2221A7331}" dt="2026-03-16T21:48:27.159" v="63"/>
          <pc:sldLayoutMkLst>
            <pc:docMk/>
            <pc:sldMasterMk cId="2333122478" sldId="2147483684"/>
            <pc:sldLayoutMk cId="4042305509" sldId="2147483695"/>
          </pc:sldLayoutMkLst>
        </pc:sldLayoutChg>
      </pc:sldMasterChg>
    </pc:docChg>
  </pc:docChgLst>
  <pc:docChgLst>
    <pc:chgData name="Lorch, Robert M" userId="S::rlorch@uiowa.edu::fab7d2ca-73fd-43ac-88ae-e4267d71ff13" providerId="AD" clId="Web-{0220F826-5AE4-1C40-1D2A-DC633039E620}"/>
    <pc:docChg chg="addSld modSld">
      <pc:chgData name="Lorch, Robert M" userId="S::rlorch@uiowa.edu::fab7d2ca-73fd-43ac-88ae-e4267d71ff13" providerId="AD" clId="Web-{0220F826-5AE4-1C40-1D2A-DC633039E620}" dt="2026-03-16T17:08:32.134" v="311" actId="20577"/>
      <pc:docMkLst>
        <pc:docMk/>
      </pc:docMkLst>
      <pc:sldChg chg="modSp new">
        <pc:chgData name="Lorch, Robert M" userId="S::rlorch@uiowa.edu::fab7d2ca-73fd-43ac-88ae-e4267d71ff13" providerId="AD" clId="Web-{0220F826-5AE4-1C40-1D2A-DC633039E620}" dt="2026-03-16T17:08:32.134" v="311" actId="20577"/>
        <pc:sldMkLst>
          <pc:docMk/>
          <pc:sldMk cId="1572822883" sldId="257"/>
        </pc:sldMkLst>
        <pc:spChg chg="mod">
          <ac:chgData name="Lorch, Robert M" userId="S::rlorch@uiowa.edu::fab7d2ca-73fd-43ac-88ae-e4267d71ff13" providerId="AD" clId="Web-{0220F826-5AE4-1C40-1D2A-DC633039E620}" dt="2026-03-16T17:02:30.087" v="5" actId="20577"/>
          <ac:spMkLst>
            <pc:docMk/>
            <pc:sldMk cId="1572822883" sldId="257"/>
            <ac:spMk id="2" creationId="{B973628D-B4CD-4C8A-B76A-1315567874F0}"/>
          </ac:spMkLst>
        </pc:spChg>
        <pc:spChg chg="mod">
          <ac:chgData name="Lorch, Robert M" userId="S::rlorch@uiowa.edu::fab7d2ca-73fd-43ac-88ae-e4267d71ff13" providerId="AD" clId="Web-{0220F826-5AE4-1C40-1D2A-DC633039E620}" dt="2026-03-16T17:08:32.134" v="311" actId="20577"/>
          <ac:spMkLst>
            <pc:docMk/>
            <pc:sldMk cId="1572822883" sldId="257"/>
            <ac:spMk id="3" creationId="{962115ED-9912-DA77-67F5-5CDAA59700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88D58-EBEB-3940-91FB-2E70D58DD4F8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7D3BD-964E-9548-96C7-33ED27501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49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10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09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51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“B authenticates to I (impersonating A)” step, B is also issuing a challenge. I steals that challenge and has A do it for him. A won’t notice because he doesn’t see an identity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7D3BD-964E-9548-96C7-33ED27501C4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38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0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26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19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83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83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069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4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09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58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315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30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12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10.png"/><Relationship Id="rId7" Type="http://schemas.openxmlformats.org/officeDocument/2006/relationships/image" Target="../media/image35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3" Type="http://schemas.openxmlformats.org/officeDocument/2006/relationships/image" Target="../media/image3.png"/><Relationship Id="rId7" Type="http://schemas.openxmlformats.org/officeDocument/2006/relationships/image" Target="../media/image40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10" Type="http://schemas.openxmlformats.org/officeDocument/2006/relationships/image" Target="../media/image430.png"/><Relationship Id="rId4" Type="http://schemas.openxmlformats.org/officeDocument/2006/relationships/image" Target="../media/image370.png"/><Relationship Id="rId9" Type="http://schemas.openxmlformats.org/officeDocument/2006/relationships/image" Target="../media/image42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3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5" Type="http://schemas.openxmlformats.org/officeDocument/2006/relationships/image" Target="../media/image420.png"/><Relationship Id="rId4" Type="http://schemas.openxmlformats.org/officeDocument/2006/relationships/image" Target="../media/image410.png"/><Relationship Id="rId9" Type="http://schemas.openxmlformats.org/officeDocument/2006/relationships/image" Target="../media/image5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430.png"/><Relationship Id="rId4" Type="http://schemas.openxmlformats.org/officeDocument/2006/relationships/image" Target="../media/image46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0.png"/><Relationship Id="rId4" Type="http://schemas.openxmlformats.org/officeDocument/2006/relationships/image" Target="../media/image46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Automated Reasoning for Security Protocols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Source Sans Pro"/>
                <a:ea typeface="Source Sans Pro"/>
              </a:rPr>
              <a:t>Rob Lorch </a:t>
            </a:r>
            <a:endParaRPr lang="en-US" dirty="0">
              <a:latin typeface="Aptos" panose="02110004020202020204"/>
              <a:ea typeface="Source Sans Pro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Source Sans Pro"/>
                <a:ea typeface="Source Sans Pro"/>
              </a:rPr>
              <a:t>4/23/26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C5C56-34AF-1672-AA9A-65E7A4D3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951D-1B73-58A4-4D65-EEC266C2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Introduction &amp; Motivation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3750E-F487-A549-7A81-AEE104966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Most of the Internet</a:t>
            </a:r>
            <a:r>
              <a:rPr lang="en-US" dirty="0">
                <a:latin typeface="Source Sans Pro"/>
                <a:ea typeface="Source Sans Pro"/>
              </a:rPr>
              <a:t> runs on layers of security protocols</a:t>
            </a:r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DNSSEC </a:t>
            </a:r>
            <a:r>
              <a:rPr lang="en-US" dirty="0">
                <a:latin typeface="Source Sans Pro"/>
                <a:ea typeface="Source Sans Pro"/>
              </a:rPr>
              <a:t>secures URL      IP address mappings; prevents masquerading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300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TLS </a:t>
            </a:r>
            <a:r>
              <a:rPr lang="en-US" sz="2300" dirty="0">
                <a:latin typeface="Source Sans Pro"/>
                <a:ea typeface="Source Sans Pro"/>
              </a:rPr>
              <a:t>promises confidentiality, authenticity, and integrity for application layer</a:t>
            </a:r>
            <a:endParaRPr lang="en-US" sz="23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300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X.509</a:t>
            </a:r>
            <a:r>
              <a:rPr lang="en-US" sz="2300" dirty="0">
                <a:latin typeface="Source Sans Pro"/>
                <a:ea typeface="Source Sans Pro"/>
              </a:rPr>
              <a:t> certificate validation secures public key      identity mappings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300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4G LTE/5G</a:t>
            </a:r>
            <a:r>
              <a:rPr lang="en-US" sz="2300" dirty="0">
                <a:latin typeface="Source Sans Pro"/>
                <a:ea typeface="Source Sans Pro"/>
              </a:rPr>
              <a:t> promises confidentiality and authentication of cellular networks</a:t>
            </a:r>
            <a:endParaRPr lang="en-US" sz="2300" dirty="0">
              <a:latin typeface="Aptos" panose="02110004020202020204"/>
              <a:ea typeface="Source Sans Pr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300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Uptane </a:t>
            </a:r>
            <a:r>
              <a:rPr lang="en-US" sz="2300" dirty="0">
                <a:latin typeface="Source Sans Pro"/>
                <a:ea typeface="Source Sans Pro"/>
              </a:rPr>
              <a:t>promises authenticity and integrity of vehicle OTA software updates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300" dirty="0">
                <a:latin typeface="Source Sans Pro"/>
                <a:ea typeface="Source Sans Pro"/>
              </a:rPr>
              <a:t>And many more…</a:t>
            </a:r>
            <a:endParaRPr lang="en-US" sz="23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B8BC3C-5CD4-B017-228A-84FACB86DDB4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FAE4E3F3-7E89-2B70-F6A4-B554A5174B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52" t="33722" r="25764" b="33958"/>
          <a:stretch>
            <a:fillRect/>
          </a:stretch>
        </p:blipFill>
        <p:spPr>
          <a:xfrm>
            <a:off x="4284469" y="2402234"/>
            <a:ext cx="266169" cy="163539"/>
          </a:xfrm>
          <a:prstGeom prst="rect">
            <a:avLst/>
          </a:prstGeom>
        </p:spPr>
      </p:pic>
      <p:pic>
        <p:nvPicPr>
          <p:cNvPr id="7" name="Picture 6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46C7BAC6-E453-4B42-B23B-F16AF3C00A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52" t="33722" r="25764" b="33958"/>
          <a:stretch>
            <a:fillRect/>
          </a:stretch>
        </p:blipFill>
        <p:spPr>
          <a:xfrm>
            <a:off x="7176790" y="3141765"/>
            <a:ext cx="266169" cy="16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11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95CDF-283F-6DAB-88F2-6E0AFFAA9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EEDF7-A7B3-688E-86C2-C8CF92F77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Introduction &amp; Motivation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AA9FF-9E9C-D585-7639-BD2ADE435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157"/>
            <a:ext cx="10515600" cy="477192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>
                <a:latin typeface="Source Sans Pro"/>
                <a:ea typeface="Source Sans Pro"/>
              </a:rPr>
              <a:t>Security protocols are</a:t>
            </a:r>
            <a:r>
              <a:rPr lang="en-US" sz="200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 hard to get right</a:t>
            </a:r>
            <a:endParaRPr lang="en-US" sz="20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r>
              <a:rPr lang="en-US" sz="2000" dirty="0">
                <a:latin typeface="Source Sans Pro"/>
                <a:ea typeface="Source Sans Pro"/>
              </a:rPr>
              <a:t>Canonical example is the </a:t>
            </a:r>
            <a:r>
              <a:rPr lang="en-US" sz="2000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Needham-Schroeder public key mutual authentication </a:t>
            </a:r>
            <a:r>
              <a:rPr lang="en-US" sz="200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protocol</a:t>
            </a:r>
            <a:endParaRPr lang="en-US" sz="20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endParaRPr lang="en-US" sz="20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endParaRPr lang="en-US" sz="20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endParaRPr lang="en-US" sz="20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endParaRPr lang="en-US" sz="20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endParaRPr lang="en-US" sz="20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endParaRPr lang="en-US" sz="20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endParaRPr lang="en-US" sz="20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endParaRPr lang="en-US" sz="20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endParaRPr lang="en-US" sz="2000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r>
              <a:rPr lang="en-US" sz="2000">
                <a:latin typeface="Source Sans Pro"/>
                <a:ea typeface="Source Sans Pro"/>
              </a:rPr>
              <a:t>Vulnerability went undiscovered for </a:t>
            </a:r>
            <a:r>
              <a:rPr lang="en-US" sz="2000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17 years</a:t>
            </a:r>
            <a:endParaRPr lang="en-US" sz="2000">
              <a:solidFill>
                <a:schemeClr val="accent6">
                  <a:lumMod val="76000"/>
                </a:schemeClr>
              </a:solidFill>
            </a:endParaRPr>
          </a:p>
          <a:p>
            <a:endParaRPr lang="en-US" sz="2000" dirty="0">
              <a:latin typeface="Source Sans Pro"/>
              <a:ea typeface="Source Sans Pro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800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1ACC05-EC25-CDC9-272B-12DD48F853D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4F264D-0BAD-E1FE-CF19-8575F2BBE2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" t="451" r="1260" b="301"/>
          <a:stretch>
            <a:fillRect/>
          </a:stretch>
        </p:blipFill>
        <p:spPr>
          <a:xfrm>
            <a:off x="1878093" y="2663018"/>
            <a:ext cx="7905563" cy="320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33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A5078-A6A6-7052-10F7-D025B5E8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FA475-E857-22DA-A9D0-3CC1DE784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Introduction &amp; Motivation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69A3B-1AD2-7DE9-BA3C-9D6741CF1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latin typeface="Source Sans Pro"/>
                <a:ea typeface="Source Sans Pro"/>
              </a:rPr>
              <a:t>Modern protocols are </a:t>
            </a:r>
            <a:r>
              <a:rPr lang="en-US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orders of magnitude more complicated</a:t>
            </a:r>
            <a:r>
              <a:rPr lang="en-US">
                <a:latin typeface="Source Sans Pro"/>
                <a:ea typeface="Source Sans Pro"/>
              </a:rPr>
              <a:t>!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TLS, X.509 certificate validation, 4G/5G LTE, </a:t>
            </a:r>
            <a:r>
              <a:rPr lang="en-US" dirty="0" err="1">
                <a:latin typeface="Source Sans Pro"/>
                <a:ea typeface="Source Sans Pro"/>
              </a:rPr>
              <a:t>Uptane</a:t>
            </a:r>
            <a:r>
              <a:rPr lang="en-US" dirty="0">
                <a:latin typeface="Source Sans Pro"/>
                <a:ea typeface="Source Sans Pro"/>
              </a:rPr>
              <a:t>, Signal messaging, ...</a:t>
            </a:r>
            <a:endParaRPr lang="en-US" dirty="0"/>
          </a:p>
          <a:p>
            <a:r>
              <a:rPr lang="en-US">
                <a:latin typeface="Source Sans Pro"/>
                <a:ea typeface="Source Sans Pro"/>
              </a:rPr>
              <a:t>SOTA security protocol verification is </a:t>
            </a:r>
            <a:r>
              <a:rPr lang="en-US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impressive </a:t>
            </a:r>
            <a:endParaRPr lang="en-US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Source Sans Pro"/>
                <a:ea typeface="Source Sans Pro"/>
              </a:rPr>
              <a:t>Needham-Schroeder (&amp; variants) can be precisely analyzed with full automation (both attacks and proofs of security)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Source Sans Pro"/>
                <a:ea typeface="Source Sans Pro"/>
              </a:rPr>
              <a:t>Modern tools can formally verify protocols like TLS and Signal </a:t>
            </a:r>
          </a:p>
          <a:p>
            <a:r>
              <a:rPr lang="en-US" dirty="0">
                <a:latin typeface="Source Sans Pro"/>
                <a:ea typeface="Source Sans Pro"/>
              </a:rPr>
              <a:t>SOTA security protocol verification has 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room for improvement</a:t>
            </a:r>
            <a:r>
              <a:rPr lang="en-US" dirty="0">
                <a:latin typeface="Source Sans Pro"/>
                <a:ea typeface="Source Sans Pro"/>
              </a:rPr>
              <a:t> 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Source Sans Pro"/>
                <a:ea typeface="Source Sans Pro"/>
              </a:rPr>
              <a:t>Biggest verification attempts pioneered by tool developers with </a:t>
            </a:r>
            <a:r>
              <a:rPr lang="en-US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deep knowledge of internals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Approaches that do not rely on expert knowledge </a:t>
            </a:r>
            <a:r>
              <a:rPr lang="en-US">
                <a:solidFill>
                  <a:schemeClr val="accent6">
                    <a:lumMod val="76000"/>
                  </a:schemeClr>
                </a:solidFill>
              </a:rPr>
              <a:t>make other tradeoffs</a:t>
            </a:r>
            <a:r>
              <a:rPr lang="en-US" dirty="0"/>
              <a:t> </a:t>
            </a:r>
            <a:r>
              <a:rPr lang="en-US"/>
              <a:t>(abstraction/refinement techniques compose results from two separate models in different formalisms and rely on manual intervention)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CECE3B-C7E3-6DD0-1BA3-E94895F2879A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16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4BBA-AEEF-F02E-2A0A-27B08706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4503-9F41-4A11-446B-56A49286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FE3CC-B3C1-2EB5-2B26-CEE053F6D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solidFill>
                  <a:srgbClr val="000000"/>
                </a:solidFill>
                <a:latin typeface="Source Sans Pro"/>
                <a:ea typeface="Source Sans Pro"/>
              </a:rPr>
              <a:t>Objective</a:t>
            </a:r>
          </a:p>
          <a:p>
            <a:r>
              <a:rPr lang="en-US" dirty="0">
                <a:latin typeface="Source Sans Pro"/>
                <a:ea typeface="Source Sans Pro"/>
              </a:rPr>
              <a:t>Cryptographic protocol verification background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Threat models and their relationships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Formalizing security protocols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Formalizing security properties</a:t>
            </a:r>
            <a:endParaRPr lang="en-US" dirty="0"/>
          </a:p>
          <a:p>
            <a:r>
              <a:rPr lang="en-US" dirty="0">
                <a:latin typeface="Source Sans Pro"/>
                <a:ea typeface="Source Sans Pro"/>
              </a:rPr>
              <a:t>Breaking, fixing, and breaking Needham-Schroeder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Key compromise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Type confusion!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expressive (prior work &amp; open questions)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tractable (prior work &amp; open questions)</a:t>
            </a:r>
          </a:p>
          <a:p>
            <a:r>
              <a:rPr lang="en-US" dirty="0">
                <a:latin typeface="Source Sans Pro"/>
                <a:ea typeface="Source Sans Pro"/>
              </a:rPr>
              <a:t>Discussion &amp; Conclusion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CEFFD2-B460-F9F6-EA13-A58AA167383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40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4BBA-AEEF-F02E-2A0A-27B08706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4503-9F41-4A11-446B-56A49286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FE3CC-B3C1-2EB5-2B26-CEE053F6D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Objective</a:t>
            </a:r>
          </a:p>
          <a:p>
            <a:r>
              <a:rPr lang="en-US" dirty="0">
                <a:solidFill>
                  <a:srgbClr val="000000"/>
                </a:solidFill>
                <a:latin typeface="Source Sans Pro"/>
                <a:ea typeface="Source Sans Pro"/>
              </a:rPr>
              <a:t>Cryptographic protocol verification background</a:t>
            </a:r>
            <a:endParaRPr lang="en-US" dirty="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Source Sans Pro"/>
                <a:ea typeface="Source Sans Pro"/>
              </a:rPr>
              <a:t>Threat models and their relationships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Source Sans Pro"/>
                <a:ea typeface="Source Sans Pro"/>
              </a:rPr>
              <a:t>Separate sections? Question: what is my goal, and what do I need to get there?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Source Sans Pro"/>
                <a:ea typeface="Source Sans Pro"/>
              </a:rPr>
              <a:t>Security properties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latin typeface="Source Sans Pro"/>
                <a:ea typeface="Source Sans Pro"/>
              </a:rPr>
              <a:t>Formalization (MSR? Applied pi calculus? Both? One?)</a:t>
            </a:r>
            <a:endParaRPr lang="en-US" sz="2800" dirty="0">
              <a:latin typeface="Source Sans Pro"/>
              <a:ea typeface="Source Sans Pro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Reasoning techniques</a:t>
            </a:r>
            <a:endParaRPr lang="en-US" sz="2800" dirty="0">
              <a:latin typeface="Source Sans Pro"/>
              <a:ea typeface="Source Sans Pro"/>
            </a:endParaRPr>
          </a:p>
          <a:p>
            <a:r>
              <a:rPr lang="en-US" dirty="0">
                <a:latin typeface="Source Sans Pro"/>
                <a:ea typeface="Source Sans Pro"/>
              </a:rPr>
              <a:t>Breaking, fixing, and breaking Needham-Schroeder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Key compromise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Type confusion!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expressive (prior work &amp; open questions)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tractable (prior work &amp; open questions)</a:t>
            </a:r>
          </a:p>
          <a:p>
            <a:r>
              <a:rPr lang="en-US" dirty="0">
                <a:latin typeface="Source Sans Pro"/>
                <a:ea typeface="Source Sans Pro"/>
              </a:rPr>
              <a:t>Discussion &amp; Conclusion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CEFFD2-B460-F9F6-EA13-A58AA167383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98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35E0-BEEA-EB4D-28A6-402771B8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0EAD-0D27-1C7F-A0A8-F961B406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88B1-2267-9A92-9381-94A9E59DC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Mechanize</a:t>
            </a:r>
            <a:r>
              <a:rPr lang="en-US" dirty="0">
                <a:latin typeface="Source Sans Pro"/>
                <a:ea typeface="Source Sans Pro"/>
              </a:rPr>
              <a:t> reasoning about cryptographic protocol security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Automate</a:t>
            </a:r>
            <a:r>
              <a:rPr lang="en-US" dirty="0">
                <a:latin typeface="Source Sans Pro"/>
                <a:ea typeface="Source Sans Pro"/>
              </a:rPr>
              <a:t> reasoning about cryptographic protocol security</a:t>
            </a:r>
          </a:p>
          <a:p>
            <a:pPr lvl="1"/>
            <a:r>
              <a:rPr lang="en-US" dirty="0">
                <a:latin typeface="Source Sans Pro"/>
                <a:ea typeface="Source Sans Pro"/>
              </a:rPr>
              <a:t>Proofs of security</a:t>
            </a:r>
          </a:p>
          <a:p>
            <a:pPr lvl="1"/>
            <a:r>
              <a:rPr lang="en-US" dirty="0">
                <a:latin typeface="Source Sans Pro"/>
                <a:ea typeface="Source Sans Pro"/>
              </a:rPr>
              <a:t>Attack traces to witness insecurity</a:t>
            </a:r>
          </a:p>
          <a:p>
            <a:r>
              <a:rPr lang="en-US" dirty="0">
                <a:latin typeface="Source Sans Pro"/>
                <a:ea typeface="Source Sans Pro"/>
              </a:rPr>
              <a:t>Ideally, reason in an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unbounded setting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013BD-B792-7885-524D-3E34C6C84D3E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41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35E0-BEEA-EB4D-28A6-402771B8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0EAD-0D27-1C7F-A0A8-F961B406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88B1-2267-9A92-9381-94A9E59DC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latin typeface="Source Sans Pro"/>
                <a:ea typeface="Source Sans Pro"/>
              </a:rPr>
              <a:t>Objective</a:t>
            </a:r>
          </a:p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Cryptographic protocol verification background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Threat models and their relationships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Formalizing security protocols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Formalizing security properties</a:t>
            </a:r>
            <a:endParaRPr lang="en-US" b="1" dirty="0">
              <a:solidFill>
                <a:schemeClr val="accent6">
                  <a:lumMod val="76000"/>
                </a:schemeClr>
              </a:solidFill>
            </a:endParaRPr>
          </a:p>
          <a:p>
            <a:r>
              <a:rPr lang="en-US" dirty="0">
                <a:latin typeface="Source Sans Pro"/>
                <a:ea typeface="Source Sans Pro"/>
              </a:rPr>
              <a:t>Breaking, fixing, and breaking Needham-Schroeder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Key compromise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Type confusion!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expressive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tractable</a:t>
            </a:r>
          </a:p>
          <a:p>
            <a:r>
              <a:rPr lang="en-US" dirty="0">
                <a:latin typeface="Source Sans Pro"/>
                <a:ea typeface="Source Sans Pro"/>
              </a:rPr>
              <a:t>Discussion &amp; Conclusion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013BD-B792-7885-524D-3E34C6C84D3E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19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969D4-3B0B-411E-C3CD-62798E61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FB49-4862-A0D7-FAD6-F2105BC2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Mathematical Cryptography: Primitives &amp; Protoc</a:t>
            </a:r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ols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CADC4-C336-F3FF-CB42-A10E1EA90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Sans Pro"/>
                <a:ea typeface="Source Sans Pro"/>
              </a:rPr>
              <a:t>Example protocol: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roles</a:t>
            </a:r>
            <a:r>
              <a:rPr lang="en-US" dirty="0">
                <a:latin typeface="Source Sans Pro"/>
                <a:ea typeface="Source Sans Pro"/>
              </a:rPr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primitives</a:t>
            </a: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368CFF-7915-DFE4-A835-3B6E528F45FC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35EF69-6110-6416-D067-99A8BC37A0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4" t="2378" r="50" b="125"/>
          <a:stretch>
            <a:fillRect/>
          </a:stretch>
        </p:blipFill>
        <p:spPr>
          <a:xfrm>
            <a:off x="958187" y="2525676"/>
            <a:ext cx="8952802" cy="353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9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Mathematical Cryptography: Primitives &amp; Protoc</a:t>
            </a:r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ols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Sans Pro"/>
                <a:ea typeface="Source Sans Pro"/>
              </a:rPr>
              <a:t>Example protocol: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adversary</a:t>
            </a:r>
            <a:r>
              <a:rPr lang="en-US" dirty="0">
                <a:latin typeface="Source Sans Pro"/>
                <a:ea typeface="Source Sans Pro"/>
              </a:rPr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trace</a:t>
            </a: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3CA980-B60C-BF94-9DD3-7F4A315CF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21" b="133"/>
          <a:stretch>
            <a:fillRect/>
          </a:stretch>
        </p:blipFill>
        <p:spPr>
          <a:xfrm>
            <a:off x="952500" y="2506504"/>
            <a:ext cx="7497507" cy="340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203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Mathematical Cryptography: Primitives &amp; Protoc</a:t>
            </a:r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ols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Sans Pro"/>
                <a:ea typeface="Source Sans Pro"/>
              </a:rPr>
              <a:t>Example protocol: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adversary</a:t>
            </a:r>
            <a:r>
              <a:rPr lang="en-US" dirty="0">
                <a:latin typeface="Source Sans Pro"/>
                <a:ea typeface="Source Sans Pro"/>
              </a:rPr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trace</a:t>
            </a: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3CA980-B60C-BF94-9DD3-7F4A315CF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21" b="133"/>
          <a:stretch>
            <a:fillRect/>
          </a:stretch>
        </p:blipFill>
        <p:spPr>
          <a:xfrm>
            <a:off x="952500" y="2506504"/>
            <a:ext cx="7497507" cy="34098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DF1E44-930F-C054-671A-8D2C45F25187}"/>
              </a:ext>
            </a:extLst>
          </p:cNvPr>
          <p:cNvSpPr/>
          <p:nvPr/>
        </p:nvSpPr>
        <p:spPr>
          <a:xfrm>
            <a:off x="2784764" y="2506504"/>
            <a:ext cx="841664" cy="78741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96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C45DB-C9C3-C84F-1364-768F7C48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A34AC-27F3-CD0D-E848-8BF6AC7C5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Mathematical Cryptography: Primitives &amp; Protoc</a:t>
            </a:r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ols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FCCB9-084E-F500-EA8B-C6F0A361E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Sans Pro"/>
                <a:ea typeface="Source Sans Pro"/>
              </a:rPr>
              <a:t>Example protocol: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adversary</a:t>
            </a:r>
            <a:r>
              <a:rPr lang="en-US" dirty="0">
                <a:latin typeface="Source Sans Pro"/>
                <a:ea typeface="Source Sans Pro"/>
              </a:rPr>
              <a:t>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trace</a:t>
            </a: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B97FDA-D9C1-91D7-3BAC-B1EEC7F89A37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9E92C4-6F3A-185A-2DDB-FD97B92D29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2" b="133"/>
          <a:stretch>
            <a:fillRect/>
          </a:stretch>
        </p:blipFill>
        <p:spPr>
          <a:xfrm>
            <a:off x="952500" y="2506504"/>
            <a:ext cx="7479352" cy="340981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EA188B3-2C76-1245-5117-08DDC482597B}"/>
              </a:ext>
            </a:extLst>
          </p:cNvPr>
          <p:cNvSpPr/>
          <p:nvPr/>
        </p:nvSpPr>
        <p:spPr>
          <a:xfrm>
            <a:off x="1649766" y="3447495"/>
            <a:ext cx="1501805" cy="2885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834DC1-C074-A677-509A-E515F324237E}"/>
              </a:ext>
            </a:extLst>
          </p:cNvPr>
          <p:cNvSpPr/>
          <p:nvPr/>
        </p:nvSpPr>
        <p:spPr>
          <a:xfrm>
            <a:off x="3264480" y="3860245"/>
            <a:ext cx="1501805" cy="28852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B50925-B04A-7DE8-B6C5-384D761DDABC}"/>
              </a:ext>
            </a:extLst>
          </p:cNvPr>
          <p:cNvSpPr/>
          <p:nvPr/>
        </p:nvSpPr>
        <p:spPr>
          <a:xfrm>
            <a:off x="5273801" y="3492850"/>
            <a:ext cx="1170698" cy="25223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E95B5E-2141-3EB1-D16B-6463926F0EFB}"/>
              </a:ext>
            </a:extLst>
          </p:cNvPr>
          <p:cNvSpPr/>
          <p:nvPr/>
        </p:nvSpPr>
        <p:spPr>
          <a:xfrm>
            <a:off x="5214835" y="3905599"/>
            <a:ext cx="1170698" cy="25223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94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FB3F9-54FA-4CF4-1F36-4477E8CF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27087-FD87-5AB3-73B7-41F5F42E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Mathematical Cryptography: Primitives &amp; Protoc</a:t>
            </a:r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ols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93952-35F0-AF2E-6FA0-F11415240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Source Sans Pro"/>
                <a:ea typeface="Source Sans Pro"/>
              </a:rPr>
              <a:t>Cryptographic </a:t>
            </a:r>
            <a:r>
              <a:rPr lang="en-US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protocol </a:t>
            </a:r>
            <a:r>
              <a:rPr lang="en-US">
                <a:solidFill>
                  <a:srgbClr val="000000"/>
                </a:solidFill>
                <a:latin typeface="Source Sans Pro"/>
                <a:ea typeface="Source Sans Pro"/>
              </a:rPr>
              <a:t>vs </a:t>
            </a:r>
            <a:r>
              <a:rPr lang="en-US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primitive</a:t>
            </a: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2650FD-C6C8-724E-FA70-57F6E762D1D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1777698-7B5C-C18A-E8C8-5DCEEE8F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4" t="2378" r="50" b="125"/>
          <a:stretch>
            <a:fillRect/>
          </a:stretch>
        </p:blipFill>
        <p:spPr>
          <a:xfrm>
            <a:off x="949116" y="2516605"/>
            <a:ext cx="8952802" cy="353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83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FB3F9-54FA-4CF4-1F36-4477E8CF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27087-FD87-5AB3-73B7-41F5F42E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Mathematical Cryptography: Primitives &amp; Protoc</a:t>
            </a:r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ols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93952-35F0-AF2E-6FA0-F11415240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Source Sans Pro"/>
                <a:ea typeface="Source Sans Pro"/>
              </a:rPr>
              <a:t>Cryptographic 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protocol </a:t>
            </a:r>
            <a:r>
              <a:rPr lang="en-US" dirty="0">
                <a:solidFill>
                  <a:srgbClr val="000000"/>
                </a:solidFill>
                <a:latin typeface="Source Sans Pro"/>
                <a:ea typeface="Source Sans Pro"/>
              </a:rPr>
              <a:t>vs 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primitive</a:t>
            </a: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2650FD-C6C8-724E-FA70-57F6E762D1D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1777698-7B5C-C18A-E8C8-5DCEEE8F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4" t="2378" r="50" b="125"/>
          <a:stretch>
            <a:fillRect/>
          </a:stretch>
        </p:blipFill>
        <p:spPr>
          <a:xfrm>
            <a:off x="949116" y="2516605"/>
            <a:ext cx="8952802" cy="35315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CB50893-1FA2-A152-0DFC-B9F634816B13}"/>
              </a:ext>
            </a:extLst>
          </p:cNvPr>
          <p:cNvSpPr/>
          <p:nvPr/>
        </p:nvSpPr>
        <p:spPr>
          <a:xfrm>
            <a:off x="1296785" y="3582785"/>
            <a:ext cx="3075710" cy="2465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3C352E-69E5-5227-2AC8-1D0B9A0027FB}"/>
              </a:ext>
            </a:extLst>
          </p:cNvPr>
          <p:cNvSpPr/>
          <p:nvPr/>
        </p:nvSpPr>
        <p:spPr>
          <a:xfrm>
            <a:off x="2926080" y="1759036"/>
            <a:ext cx="1712422" cy="6435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30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FB3F9-54FA-4CF4-1F36-4477E8CF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27087-FD87-5AB3-73B7-41F5F42E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Mathematical Cryptography: Primitives &amp; Protoc</a:t>
            </a:r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ols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93952-35F0-AF2E-6FA0-F11415240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Source Sans Pro"/>
                <a:ea typeface="Source Sans Pro"/>
              </a:rPr>
              <a:t>Cryptographic </a:t>
            </a:r>
            <a:r>
              <a:rPr lang="en-US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protocol </a:t>
            </a:r>
            <a:r>
              <a:rPr lang="en-US">
                <a:solidFill>
                  <a:srgbClr val="000000"/>
                </a:solidFill>
                <a:latin typeface="Source Sans Pro"/>
                <a:ea typeface="Source Sans Pro"/>
              </a:rPr>
              <a:t>vs </a:t>
            </a:r>
            <a:r>
              <a:rPr lang="en-US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primitive</a:t>
            </a: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2650FD-C6C8-724E-FA70-57F6E762D1D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1777698-7B5C-C18A-E8C8-5DCEEE8F39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4" t="2378" r="50" b="125"/>
          <a:stretch>
            <a:fillRect/>
          </a:stretch>
        </p:blipFill>
        <p:spPr>
          <a:xfrm>
            <a:off x="949116" y="2516605"/>
            <a:ext cx="8952802" cy="353151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42255E8-217D-1456-14A6-3D8B7908A019}"/>
              </a:ext>
            </a:extLst>
          </p:cNvPr>
          <p:cNvSpPr/>
          <p:nvPr/>
        </p:nvSpPr>
        <p:spPr>
          <a:xfrm>
            <a:off x="1662546" y="3949851"/>
            <a:ext cx="723207" cy="33250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29F6157-F0B8-23B0-B18B-E8AB7BAFEEEF}"/>
              </a:ext>
            </a:extLst>
          </p:cNvPr>
          <p:cNvSpPr/>
          <p:nvPr/>
        </p:nvSpPr>
        <p:spPr>
          <a:xfrm>
            <a:off x="4663437" y="1763998"/>
            <a:ext cx="1712422" cy="6435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90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3DA93-DD83-7928-B4DD-5FA1B9A81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D9A8-3B2C-4B2C-BDD9-3B75007AD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Mathematical Cryptography: Primitives &amp; Protoc</a:t>
            </a:r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ols</a:t>
            </a:r>
            <a:endParaRPr lang="en-US" sz="4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0BA38A-6F1B-F268-C2CE-A682BBAF90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Source Sans Pro"/>
                    <a:ea typeface="Source Sans Pro"/>
                  </a:rPr>
                  <a:t>How to define security for a cryptographic </a:t>
                </a:r>
                <a:r>
                  <a:rPr lang="en-US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primitive</a:t>
                </a:r>
                <a:r>
                  <a:rPr lang="en-US" dirty="0">
                    <a:latin typeface="Source Sans Pro"/>
                    <a:ea typeface="Source Sans Pro"/>
                  </a:rPr>
                  <a:t>?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Consider symmetric key encryption and decryption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Three functions: 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𝐺𝑒𝑛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: </m:t>
                    </m:r>
                    <m:r>
                      <m:rPr>
                        <m:lit/>
                      </m:rP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{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1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                                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𝐸𝑛𝑐</m:t>
                    </m:r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:</m:t>
                    </m:r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𝑀</m:t>
                    </m:r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× </m:t>
                    </m:r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→</m:t>
                    </m:r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𝐶</m:t>
                    </m:r>
                  </m:oMath>
                </a14:m>
                <a:endParaRPr lang="en-US" sz="28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457200" lvl="1" indent="0">
                  <a:buNone/>
                </a:pPr>
                <a:r>
                  <a:rPr lang="en-US" sz="2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𝐷𝑒𝑐</m:t>
                    </m:r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:</m:t>
                    </m:r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𝐶</m:t>
                    </m:r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× </m:t>
                    </m:r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</m:t>
                    </m:r>
                    <m:r>
                      <a:rPr lang="en-US" sz="2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𝑀</m:t>
                    </m:r>
                  </m:oMath>
                </a14:m>
                <a:endParaRPr lang="en-US" sz="28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Well-formedness requirement: 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∀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𝑀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.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𝐷𝑒𝑐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𝐸𝑛𝑐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𝑚</m:t>
                            </m:r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=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</m:t>
                    </m:r>
                  </m:oMath>
                </a14:m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endParaRPr lang="en-US" dirty="0">
                  <a:solidFill>
                    <a:srgbClr val="3B7F23"/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0BA38A-6F1B-F268-C2CE-A682BBAF90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D3E1E5C-BA57-5432-EDDA-1C53BCEDED97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498D42-F0FF-59C1-8212-5270F8941211}"/>
                  </a:ext>
                </a:extLst>
              </p:cNvPr>
              <p:cNvSpPr txBox="1"/>
              <p:nvPr/>
            </p:nvSpPr>
            <p:spPr>
              <a:xfrm>
                <a:off x="3405309" y="4447309"/>
                <a:ext cx="698319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Source Sans Pro"/>
                    <a:ea typeface="Source Sans Pro"/>
                  </a:rPr>
                  <a:t>Typically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Source Sans Pro"/>
                      </a:rPr>
                      <m:t>𝑀</m:t>
                    </m:r>
                  </m:oMath>
                </a14:m>
                <a:r>
                  <a:rPr lang="en-US" sz="2800" dirty="0">
                    <a:latin typeface="Source Sans Pro"/>
                    <a:ea typeface="Source Sans Pro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r>
                  <a:rPr lang="en-US" sz="2800" dirty="0">
                    <a:latin typeface="Source Sans Pro"/>
                    <a:ea typeface="Source Sans Pro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Source Sans Pro"/>
                      </a:rPr>
                      <m:t>𝐶</m:t>
                    </m:r>
                  </m:oMath>
                </a14:m>
                <a:r>
                  <a:rPr lang="en-US" sz="2800" dirty="0">
                    <a:latin typeface="Source Sans Pro"/>
                    <a:ea typeface="Source Sans Pro"/>
                  </a:rPr>
                  <a:t> are all sets of bit strings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498D42-F0FF-59C1-8212-5270F8941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309" y="4447309"/>
                <a:ext cx="6983194" cy="523220"/>
              </a:xfrm>
              <a:prstGeom prst="rect">
                <a:avLst/>
              </a:prstGeom>
              <a:blipFill>
                <a:blip r:embed="rId3"/>
                <a:stretch>
                  <a:fillRect l="-1818" t="-11905" r="-909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5412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28EF8-F2F8-0E05-E44F-BE0AD1615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CA72D-3DB6-EEEC-F530-38F354DB2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Mathematical Cryptography: Security of Primitives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30B31-7B36-0E59-A9F1-9E72792BE1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62879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We</a:t>
                </a:r>
                <a:r>
                  <a:rPr lang="en-US" sz="2400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 play a </a:t>
                </a:r>
                <a:r>
                  <a:rPr lang="en-US" sz="2400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cryptographic game </a:t>
                </a:r>
                <a:r>
                  <a:rPr lang="en-US" sz="2400" dirty="0">
                    <a:latin typeface="Source Sans Pro"/>
                    <a:ea typeface="Source Sans Pro"/>
                  </a:rPr>
                  <a:t>between a</a:t>
                </a:r>
                <a:r>
                  <a:rPr lang="en-US" sz="2400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 challenger </a:t>
                </a:r>
                <a:r>
                  <a:rPr lang="en-US" sz="2400" dirty="0">
                    <a:latin typeface="Source Sans Pro"/>
                    <a:ea typeface="Source Sans Pro"/>
                  </a:rPr>
                  <a:t>and an</a:t>
                </a:r>
                <a:r>
                  <a:rPr lang="en-US" sz="2400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 adversary</a:t>
                </a:r>
                <a:endParaRPr lang="en-US" sz="2400" dirty="0">
                  <a:solidFill>
                    <a:schemeClr val="accent6">
                      <a:lumMod val="76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Scheme is </a:t>
                </a:r>
                <a:r>
                  <a:rPr lang="en-US" sz="2400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IND-CPA secure</a:t>
                </a:r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  <a:r>
                  <a:rPr lang="en-US" sz="2400" dirty="0" err="1">
                    <a:latin typeface="Source Sans Pro"/>
                    <a:ea typeface="Source Sans Pro"/>
                  </a:rPr>
                  <a:t>iff</a:t>
                </a:r>
                <a:r>
                  <a:rPr lang="en-US" sz="2400" dirty="0">
                    <a:latin typeface="Source Sans Pro"/>
                    <a:ea typeface="Source Sans Pro"/>
                  </a:rPr>
                  <a:t> 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𝐴𝑑𝑣𝑒𝑟𝑠𝑎𝑟𝑦</m:t>
                            </m:r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 </m:t>
                            </m:r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𝑤𝑖𝑛𝑠</m:t>
                            </m:r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 </m:t>
                            </m:r>
                            <m:r>
                              <a:rPr lang="en-US" sz="24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𝑔𝑎𝑚𝑒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≤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𝑛𝑒𝑔𝑙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𝜆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030B31-7B36-0E59-A9F1-9E72792BE1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62879"/>
              </a:xfrm>
              <a:blipFill>
                <a:blip r:embed="rId2"/>
                <a:stretch>
                  <a:fillRect l="-965" t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72176BA-DE49-43A6-5D70-FD569C8FA64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3F433041-9C36-340E-B73B-6C2AEC2DB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63" y="2400978"/>
            <a:ext cx="7772400" cy="318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722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3C1A-8686-9E62-A82A-AEDA56F5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C1D01-275B-5B1A-5B4C-BF551167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Mathematical Cryptography: Security of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72D8-3650-8C68-6BCA-AD446BEAB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Sans Pro"/>
                <a:ea typeface="Source Sans Pro"/>
              </a:rPr>
              <a:t>How to define security for a cryptographic 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protocol</a:t>
            </a:r>
            <a:r>
              <a:rPr lang="en-US" dirty="0">
                <a:latin typeface="Source Sans Pro"/>
                <a:ea typeface="Source Sans Pro"/>
              </a:rPr>
              <a:t>?</a:t>
            </a:r>
          </a:p>
          <a:p>
            <a:pPr marL="514350" indent="-514350">
              <a:buAutoNum type="arabicPeriod"/>
            </a:pPr>
            <a:r>
              <a:rPr lang="en-US" dirty="0">
                <a:latin typeface="Source Sans Pro"/>
                <a:ea typeface="Source Sans Pro"/>
              </a:rPr>
              <a:t>Define a 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protocol-level</a:t>
            </a:r>
            <a:r>
              <a:rPr lang="en-US" dirty="0">
                <a:latin typeface="Source Sans Pro"/>
                <a:ea typeface="Source Sans Pro"/>
              </a:rPr>
              <a:t> game</a:t>
            </a:r>
          </a:p>
          <a:p>
            <a:pPr marL="514350" indent="-514350">
              <a:buAutoNum type="arabicPeriod"/>
            </a:pPr>
            <a:r>
              <a:rPr lang="en-US" dirty="0">
                <a:latin typeface="Source Sans Pro"/>
                <a:ea typeface="Source Sans Pro"/>
              </a:rPr>
              <a:t>Assume </a:t>
            </a:r>
            <a:r>
              <a:rPr lang="en-US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primitives are secure</a:t>
            </a:r>
          </a:p>
          <a:p>
            <a:pPr marL="0" indent="0">
              <a:buNone/>
            </a:pPr>
            <a:r>
              <a:rPr lang="en-US" dirty="0">
                <a:latin typeface="Source Sans Pro"/>
                <a:ea typeface="Source Sans Pro"/>
              </a:rPr>
              <a:t>Consider a simple protocol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pPr>
              <a:buAutoNum type="arabicPeriod"/>
            </a:pP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pPr>
              <a:buAutoNum type="arabicPeriod"/>
            </a:pPr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8CD242-EBA7-D0B3-0D29-D6228ACD89D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EE8558CB-545E-4FE0-26CF-F1EE36A09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889" y="3767758"/>
            <a:ext cx="4336222" cy="262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14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3C1A-8686-9E62-A82A-AEDA56F5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C1D01-275B-5B1A-5B4C-BF551167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Mathematical Cryptography: Security of Protocols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EE72D8-3650-8C68-6BCA-AD446BEAB6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89235"/>
                <a:ext cx="10515600" cy="4869374"/>
              </a:xfrm>
            </p:spPr>
            <p:txBody>
              <a:bodyPr vert="horz" lIns="91440" tIns="45720" rIns="91440" bIns="45720" rtlCol="0" anchor="t">
                <a:normAutofit lnSpcReduction="10000"/>
              </a:bodyPr>
              <a:lstStyle/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>
                  <a:buAutoNum type="arabicPeriod"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3B7F23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3B7F23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3B7F23"/>
                  </a:solidFill>
                  <a:latin typeface="Source Sans Pro"/>
                  <a:ea typeface="Source Sans Pro"/>
                </a:endParaRPr>
              </a:p>
              <a:p>
                <a:r>
                  <a:rPr lang="en-US" sz="2600" dirty="0">
                    <a:latin typeface="Source Sans Pro"/>
                    <a:ea typeface="Source Sans Pro"/>
                  </a:rPr>
                  <a:t> </a:t>
                </a:r>
                <a:r>
                  <a:rPr lang="en-US" sz="2000" dirty="0">
                    <a:latin typeface="Source Sans Pro"/>
                    <a:ea typeface="Source Sans Pro"/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𝑠𝑟</m:t>
                    </m:r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𝑒𝑛𝑐</m:t>
                    </m:r>
                    <m:r>
                      <a:rPr lang="en-US" sz="20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(.,.,.) </m:t>
                    </m:r>
                  </m:oMath>
                </a14:m>
                <a:r>
                  <a:rPr lang="en-US" sz="2000" dirty="0">
                    <a:latin typeface="Source Sans Pro"/>
                    <a:ea typeface="Source Sans Pro"/>
                  </a:rPr>
                  <a:t>is IND-CPA secure</a:t>
                </a:r>
              </a:p>
              <a:p>
                <a:r>
                  <a:rPr lang="en-US" sz="2000" dirty="0">
                    <a:latin typeface="Source Sans Pro"/>
                    <a:ea typeface="Source Sans Pro"/>
                  </a:rPr>
                  <a:t> Assume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0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(.) </m:t>
                    </m:r>
                  </m:oMath>
                </a14:m>
                <a:r>
                  <a:rPr lang="en-US" sz="2000" dirty="0">
                    <a:latin typeface="Source Sans Pro"/>
                    <a:ea typeface="Source Sans Pro"/>
                  </a:rPr>
                  <a:t>is a collision-resistant, one-way function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 Lift IND-CPA security game to the pair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⟨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𝑠𝑟</m:t>
                    </m:r>
                    <m:r>
                      <m:rPr>
                        <m:lit/>
                      </m:rP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_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𝑒𝑛𝑐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𝑚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𝐼𝑉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h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)⟩</m:t>
                    </m:r>
                  </m:oMath>
                </a14:m>
                <a:endPara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Source Sans Pro"/>
                    <a:ea typeface="Source Sans Pro"/>
                  </a:rPr>
                  <a:t> Adversary can pick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sz="2000" dirty="0">
                    <a:latin typeface="Source Sans Pro"/>
                    <a:ea typeface="Source Sans Pro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sz="2000" dirty="0">
                    <a:latin typeface="Source Sans Pro"/>
                    <a:ea typeface="Source Sans Pro"/>
                  </a:rPr>
                  <a:t>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sz="2000" dirty="0">
                    <a:latin typeface="Source Sans Pro"/>
                    <a:ea typeface="Source Sans Pro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latin typeface="Source Sans Pro"/>
                  <a:ea typeface="Source Sans Pro"/>
                </a:endParaRPr>
              </a:p>
              <a:p>
                <a:r>
                  <a:rPr lang="en-US" sz="2000" dirty="0">
                    <a:latin typeface="Source Sans Pro"/>
                    <a:ea typeface="Source Sans Pro"/>
                  </a:rPr>
                  <a:t> Adversary guesses which was chosen by computing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h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sz="2000" dirty="0">
                    <a:latin typeface="Source Sans Pro"/>
                    <a:ea typeface="Source Sans Pro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latin typeface="Source Sans Pro"/>
                    <a:ea typeface="Source Sans Pro"/>
                  </a:rPr>
                  <a:t>and comparing to the second element of the pair</a:t>
                </a:r>
                <a:endParaRPr lang="en-US" sz="26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EE72D8-3650-8C68-6BCA-AD446BEAB6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89235"/>
                <a:ext cx="10515600" cy="4869374"/>
              </a:xfrm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B8CD242-EBA7-D0B3-0D29-D6228ACD89D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81EF2E-80FF-098B-19B3-5E97521D0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093" y="1671169"/>
            <a:ext cx="43434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61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23C1A-8686-9E62-A82A-AEDA56F5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DC7621-64B0-7AA6-7D9A-F97C8F618AAB}"/>
              </a:ext>
            </a:extLst>
          </p:cNvPr>
          <p:cNvSpPr/>
          <p:nvPr/>
        </p:nvSpPr>
        <p:spPr>
          <a:xfrm>
            <a:off x="951263" y="5444918"/>
            <a:ext cx="10515600" cy="44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BC1D01-275B-5B1A-5B4C-BF551167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Mathematical Cryptography: Security of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72D8-3650-8C68-6BCA-AD446BEAB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263" y="1905139"/>
            <a:ext cx="10515600" cy="48693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pPr>
              <a:buAutoNum type="arabicPeriod"/>
            </a:pPr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  <a:p>
            <a:pPr marL="0" indent="0" algn="ctr">
              <a:buNone/>
            </a:pPr>
            <a:r>
              <a:rPr lang="en-US" i="1" dirty="0">
                <a:latin typeface="Source Sans Pro"/>
                <a:ea typeface="Source Sans Pro"/>
              </a:rPr>
              <a:t>Secure primitives do not necessarily imply a secure protocol</a:t>
            </a:r>
          </a:p>
          <a:p>
            <a:pPr marL="0" indent="0" algn="ctr">
              <a:buNone/>
            </a:pPr>
            <a:r>
              <a:rPr lang="en-US" sz="2400" dirty="0">
                <a:latin typeface="Source Sans Pro"/>
                <a:ea typeface="Source Sans Pro"/>
              </a:rPr>
              <a:t>From now on, we assume primitives are secure and focus on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protocol verification</a:t>
            </a:r>
          </a:p>
          <a:p>
            <a:pPr marL="0" indent="0" algn="ctr">
              <a:buNone/>
            </a:pPr>
            <a:r>
              <a:rPr lang="en-US" sz="2400" dirty="0">
                <a:latin typeface="Source Sans Pro"/>
                <a:ea typeface="Source Sans Pro"/>
              </a:rPr>
              <a:t>Primitives can be analyzed separately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8CD242-EBA7-D0B3-0D29-D6228ACD89D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EE8558CB-545E-4FE0-26CF-F1EE36A09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682" y="1796110"/>
            <a:ext cx="4336222" cy="262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47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2DFB-629B-B633-078F-9B100D6F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92418-F66A-8937-E85D-04EB6005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How to make reasoning easier?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FFBEF-3548-B961-3FD8-7CC3479BE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Remember our goal: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mechanize &amp; automate reasoning</a:t>
            </a:r>
          </a:p>
          <a:p>
            <a:r>
              <a:rPr lang="en-US" dirty="0">
                <a:latin typeface="Source Sans Pro"/>
                <a:ea typeface="Source Sans Pro"/>
              </a:rPr>
              <a:t>Prior work mechanizes reasoning about cryptographic protocols with cryptographic games</a:t>
            </a:r>
          </a:p>
          <a:p>
            <a:r>
              <a:rPr lang="en-US" dirty="0">
                <a:latin typeface="Source Sans Pro"/>
                <a:ea typeface="Source Sans Pro"/>
              </a:rPr>
              <a:t>Reasoning about cryptographic games (and their compositions) is currently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too difficult to effectively automate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F912A2-0C65-765E-9900-A40ECCA64BC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70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Threat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78F8D-41CB-3795-3829-9EC13AAB8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6904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Computational model </a:t>
            </a:r>
          </a:p>
          <a:p>
            <a:pPr lvl="1"/>
            <a:r>
              <a:rPr lang="en-US" sz="2000" dirty="0">
                <a:latin typeface="Source Sans Pro"/>
                <a:ea typeface="Source Sans Pro"/>
              </a:rPr>
              <a:t>Closely follows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mathematical cryptography </a:t>
            </a:r>
          </a:p>
          <a:p>
            <a:pPr lvl="1"/>
            <a:r>
              <a:rPr lang="en-US" sz="2000" dirty="0">
                <a:latin typeface="Source Sans Pro"/>
                <a:ea typeface="Source Sans Pro"/>
              </a:rPr>
              <a:t>Adversaries are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probabilistic polynomial time (PPT) Turing machines</a:t>
            </a: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Symbolic model </a:t>
            </a:r>
            <a:r>
              <a:rPr lang="en-US" sz="2400" dirty="0">
                <a:latin typeface="Source Sans Pro"/>
                <a:ea typeface="Source Sans Pro"/>
              </a:rPr>
              <a:t>(a.k.a. </a:t>
            </a:r>
            <a:r>
              <a:rPr lang="en-US" sz="2400" dirty="0" err="1">
                <a:latin typeface="Source Sans Pro"/>
                <a:ea typeface="Source Sans Pro"/>
              </a:rPr>
              <a:t>Dolev</a:t>
            </a:r>
            <a:r>
              <a:rPr lang="en-US" sz="2400" dirty="0">
                <a:latin typeface="Source Sans Pro"/>
                <a:ea typeface="Source Sans Pro"/>
              </a:rPr>
              <a:t>-Yao model)</a:t>
            </a:r>
          </a:p>
          <a:p>
            <a:pPr lvl="1"/>
            <a:r>
              <a:rPr lang="en-US" sz="2000" dirty="0">
                <a:latin typeface="Source Sans Pro"/>
                <a:ea typeface="Source Sans Pro"/>
              </a:rPr>
              <a:t>Assumes primitives are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perfectly secure </a:t>
            </a:r>
          </a:p>
          <a:p>
            <a:pPr lvl="1"/>
            <a:r>
              <a:rPr lang="en-US" sz="2000" dirty="0">
                <a:latin typeface="Source Sans Pro"/>
                <a:ea typeface="Source Sans Pro"/>
              </a:rPr>
              <a:t>Considers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non-probabilistic (often weaker) security properties</a:t>
            </a:r>
          </a:p>
          <a:p>
            <a:pPr lvl="1"/>
            <a:r>
              <a:rPr lang="en-US" sz="2000" dirty="0">
                <a:latin typeface="Source Sans Pro"/>
                <a:ea typeface="Source Sans Pro"/>
              </a:rPr>
              <a:t>Adversary can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drop and inject arbitrary messages</a:t>
            </a:r>
            <a:r>
              <a:rPr lang="en-US" sz="2000" dirty="0">
                <a:latin typeface="Source Sans Pro"/>
                <a:ea typeface="Source Sans Pro"/>
              </a:rPr>
              <a:t> </a:t>
            </a:r>
            <a:r>
              <a:rPr lang="en-US" sz="2000" i="1" dirty="0">
                <a:latin typeface="Source Sans Pro"/>
                <a:ea typeface="Source Sans Pro"/>
              </a:rPr>
              <a:t>respecting cryptographic assumptions</a:t>
            </a:r>
          </a:p>
          <a:p>
            <a:pPr lvl="1"/>
            <a:r>
              <a:rPr lang="en-US" sz="2000" dirty="0">
                <a:latin typeface="Source Sans Pro"/>
                <a:ea typeface="Source Sans Pro"/>
              </a:rPr>
              <a:t>Useful in practice!</a:t>
            </a: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accent6">
                  <a:lumMod val="76000"/>
                </a:schemeClr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02B98C7-9CF4-3217-442C-C55D76638FD3}"/>
              </a:ext>
            </a:extLst>
          </p:cNvPr>
          <p:cNvSpPr/>
          <p:nvPr/>
        </p:nvSpPr>
        <p:spPr>
          <a:xfrm>
            <a:off x="7625302" y="1825625"/>
            <a:ext cx="2934031" cy="3883176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2E921B-0AA1-30A8-E553-99657D44271F}"/>
              </a:ext>
            </a:extLst>
          </p:cNvPr>
          <p:cNvSpPr/>
          <p:nvPr/>
        </p:nvSpPr>
        <p:spPr>
          <a:xfrm>
            <a:off x="8187859" y="3236181"/>
            <a:ext cx="2530501" cy="3256694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830F4C-1659-B088-ED09-1112EA069C75}"/>
              </a:ext>
            </a:extLst>
          </p:cNvPr>
          <p:cNvSpPr txBox="1"/>
          <p:nvPr/>
        </p:nvSpPr>
        <p:spPr>
          <a:xfrm>
            <a:off x="6949440" y="1492674"/>
            <a:ext cx="379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Source Sans Pro"/>
                <a:ea typeface="Source Sans Pro"/>
              </a:rPr>
              <a:t>Computational adversary capabilities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8FB221-2806-2B7A-FD6B-4CCC46E52571}"/>
              </a:ext>
            </a:extLst>
          </p:cNvPr>
          <p:cNvSpPr txBox="1"/>
          <p:nvPr/>
        </p:nvSpPr>
        <p:spPr>
          <a:xfrm>
            <a:off x="8120222" y="6454467"/>
            <a:ext cx="3233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Source Sans Pro"/>
                <a:ea typeface="Source Sans Pro"/>
              </a:rPr>
              <a:t>Symbolic adversary capabilities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83583-4237-62C6-A3FE-E95CD4C8D5F5}"/>
              </a:ext>
            </a:extLst>
          </p:cNvPr>
          <p:cNvSpPr txBox="1"/>
          <p:nvPr/>
        </p:nvSpPr>
        <p:spPr>
          <a:xfrm>
            <a:off x="7850921" y="2583819"/>
            <a:ext cx="2371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Source Sans Pro"/>
                <a:ea typeface="Source Sans Pro"/>
              </a:rPr>
              <a:t>Exploiting weaknesses of primitives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C07F0B-9DC7-A826-4A31-EDC532A8A345}"/>
              </a:ext>
            </a:extLst>
          </p:cNvPr>
          <p:cNvSpPr txBox="1"/>
          <p:nvPr/>
        </p:nvSpPr>
        <p:spPr>
          <a:xfrm>
            <a:off x="8238269" y="4305012"/>
            <a:ext cx="2371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Source Sans Pro"/>
                <a:ea typeface="Source Sans Pro"/>
              </a:rPr>
              <a:t>Exploiting protocol weaknesses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A6FCDD-E243-2B9C-6A0C-A25ADBE402AB}"/>
              </a:ext>
            </a:extLst>
          </p:cNvPr>
          <p:cNvSpPr txBox="1"/>
          <p:nvPr/>
        </p:nvSpPr>
        <p:spPr>
          <a:xfrm>
            <a:off x="8281029" y="5660671"/>
            <a:ext cx="2371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Source Sans Pro"/>
                <a:ea typeface="Source Sans Pro"/>
              </a:rPr>
              <a:t>Non-polynomial computation</a:t>
            </a:r>
          </a:p>
        </p:txBody>
      </p:sp>
    </p:spTree>
    <p:extLst>
      <p:ext uri="{BB962C8B-B14F-4D97-AF65-F5344CB8AC3E}">
        <p14:creationId xmlns:p14="http://schemas.microsoft.com/office/powerpoint/2010/main" val="1846142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Symbolic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78F8D-41CB-3795-3829-9EC13AAB8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dirty="0">
                    <a:latin typeface="Source Sans Pro"/>
                    <a:ea typeface="Source Sans Pro"/>
                  </a:rPr>
                  <a:t>Principals communicate with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symbolic terms </a:t>
                </a:r>
                <a:r>
                  <a:rPr lang="en-US" dirty="0">
                    <a:latin typeface="Source Sans Pro"/>
                    <a:ea typeface="Source Sans Pro"/>
                  </a:rPr>
                  <a:t>rather than bit strings (as in computational model)</a:t>
                </a:r>
              </a:p>
              <a:p>
                <a:r>
                  <a:rPr lang="en-US" dirty="0">
                    <a:latin typeface="Source Sans Pro"/>
                    <a:ea typeface="Source Sans Pro"/>
                  </a:rPr>
                  <a:t>Consider a set of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constructor symbols</a:t>
                </a:r>
                <a:r>
                  <a:rPr lang="en-US" dirty="0">
                    <a:latin typeface="Source Sans Pro"/>
                    <a:ea typeface="Source Sans Pro"/>
                  </a:rPr>
                  <a:t> and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destructor symbols</a:t>
                </a:r>
                <a:endParaRPr lang="en-US" b="0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  <a:ea typeface="Source Sans Pro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{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𝑒𝑛𝑐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∷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𝑚𝑠𝑔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×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𝑚𝑠𝑔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𝑚𝑠𝑔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 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.,.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∷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𝑚𝑠𝑔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×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𝑚𝑠𝑔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𝑚𝑠𝑔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r>
                      <m:rPr>
                        <m:lit/>
                      </m:rP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}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{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𝑑𝑒𝑐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∷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𝑚𝑠𝑔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×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𝑚𝑠𝑔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𝑚𝑠𝑔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∷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𝑚𝑠𝑔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𝑚𝑠𝑔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∷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𝑚𝑠𝑔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𝑚𝑠𝑔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r>
                      <m:rPr>
                        <m:lit/>
                      </m:rP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}</m:t>
                    </m:r>
                  </m:oMath>
                </a14:m>
                <a:endParaRPr lang="en-US" dirty="0">
                  <a:latin typeface="Source Sans Pro"/>
                  <a:ea typeface="Source Sans Pro"/>
                </a:endParaRPr>
              </a:p>
              <a:p>
                <a:r>
                  <a:rPr lang="en-US" dirty="0">
                    <a:latin typeface="Source Sans Pro"/>
                    <a:ea typeface="Source Sans Pro"/>
                  </a:rPr>
                  <a:t>Consider a set of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variables</a:t>
                </a:r>
                <a:r>
                  <a:rPr lang="en-US" dirty="0">
                    <a:latin typeface="Source Sans Pro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Source Sans Pro"/>
                      </a:rPr>
                      <m:t>𝑉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 and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data items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Source Sans Pro"/>
                      </a:rPr>
                      <m:t>𝐷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 (e.g. nonces, identities)</a:t>
                </a:r>
              </a:p>
              <a:p>
                <a:r>
                  <a:rPr lang="en-US" dirty="0">
                    <a:latin typeface="Source Sans Pro"/>
                    <a:ea typeface="Source Sans Pro"/>
                  </a:rPr>
                  <a:t>From these ingredients, we can build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terms</a:t>
                </a:r>
                <a:r>
                  <a:rPr lang="en-US" dirty="0">
                    <a:latin typeface="Source Sans Pro"/>
                    <a:ea typeface="Source Sans Pro"/>
                  </a:rPr>
                  <a:t>: </a:t>
                </a:r>
              </a:p>
              <a:p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78F8D-41CB-3795-3829-9EC13AAB8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D80D69-2222-CC93-D351-2C6EBC464701}"/>
                  </a:ext>
                </a:extLst>
              </p:cNvPr>
              <p:cNvSpPr txBox="1"/>
              <p:nvPr/>
            </p:nvSpPr>
            <p:spPr>
              <a:xfrm>
                <a:off x="1" y="5417295"/>
                <a:ext cx="1219199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𝑒𝑛𝑐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𝑑𝑒𝑐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𝑒𝑛𝑐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…</m:t>
                      </m:r>
                    </m:oMath>
                  </m:oMathPara>
                </a14:m>
                <a:endParaRPr lang="en-US" sz="2400" dirty="0">
                  <a:latin typeface="Source Sans Pro"/>
                  <a:ea typeface="Source Sans Pro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D80D69-2222-CC93-D351-2C6EBC464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5417295"/>
                <a:ext cx="12191999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081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Symbolic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78F8D-41CB-3795-3829-9EC13AAB8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1386702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Adversary can drop and inject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respecting cryptographic assumptions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We want to track whether a term is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computable by the adversary </a:t>
                </a:r>
                <a:r>
                  <a:rPr lang="en-US" sz="2400" dirty="0">
                    <a:latin typeface="Source Sans Pro"/>
                    <a:ea typeface="Source Sans Pro"/>
                  </a:rPr>
                  <a:t>(i.e.,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)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We can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inductively define </a:t>
                </a:r>
                <a:r>
                  <a:rPr lang="en-US" sz="2400" dirty="0">
                    <a:latin typeface="Source Sans Pro"/>
                    <a:ea typeface="Source Sans Pro"/>
                  </a:rPr>
                  <a:t>the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78F8D-41CB-3795-3829-9EC13AAB8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1386702"/>
              </a:xfrm>
              <a:blipFill>
                <a:blip r:embed="rId2"/>
                <a:stretch>
                  <a:fillRect l="-844" t="-6364"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8BD60-3484-79FA-3B30-3B0ADB96A3BC}"/>
              </a:ext>
            </a:extLst>
          </p:cNvPr>
          <p:cNvSpPr txBox="1"/>
          <p:nvPr/>
        </p:nvSpPr>
        <p:spPr>
          <a:xfrm>
            <a:off x="2949934" y="48502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/>
              <p:nvPr/>
            </p:nvSpPr>
            <p:spPr>
              <a:xfrm>
                <a:off x="0" y="3377076"/>
                <a:ext cx="1219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is marked public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77076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/>
              <p:nvPr/>
            </p:nvSpPr>
            <p:spPr>
              <a:xfrm>
                <a:off x="1" y="3887950"/>
                <a:ext cx="1219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𝑡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3887950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1C2AE46-0C8E-5281-2529-03B793ECBC86}"/>
              </a:ext>
            </a:extLst>
          </p:cNvPr>
          <p:cNvSpPr/>
          <p:nvPr/>
        </p:nvSpPr>
        <p:spPr>
          <a:xfrm>
            <a:off x="4922199" y="3842999"/>
            <a:ext cx="2334009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764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Symbolic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78F8D-41CB-3795-3829-9EC13AAB8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1386702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Adversary can drop and inject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respecting cryptographic assumptions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We want to track whether a term is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computable by the adversary </a:t>
                </a:r>
                <a:r>
                  <a:rPr lang="en-US" sz="2400" dirty="0">
                    <a:latin typeface="Source Sans Pro"/>
                    <a:ea typeface="Source Sans Pro"/>
                  </a:rPr>
                  <a:t>(i.e.,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)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We can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inductively define </a:t>
                </a:r>
                <a:r>
                  <a:rPr lang="en-US" sz="2400" dirty="0">
                    <a:latin typeface="Source Sans Pro"/>
                    <a:ea typeface="Source Sans Pro"/>
                  </a:rPr>
                  <a:t>the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78F8D-41CB-3795-3829-9EC13AAB8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1386702"/>
              </a:xfrm>
              <a:blipFill>
                <a:blip r:embed="rId2"/>
                <a:stretch>
                  <a:fillRect l="-844" t="-6364"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8BD60-3484-79FA-3B30-3B0ADB96A3BC}"/>
              </a:ext>
            </a:extLst>
          </p:cNvPr>
          <p:cNvSpPr txBox="1"/>
          <p:nvPr/>
        </p:nvSpPr>
        <p:spPr>
          <a:xfrm>
            <a:off x="2949934" y="48502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/>
              <p:nvPr/>
            </p:nvSpPr>
            <p:spPr>
              <a:xfrm>
                <a:off x="0" y="3377076"/>
                <a:ext cx="1219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was sent on the network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77076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/>
              <p:nvPr/>
            </p:nvSpPr>
            <p:spPr>
              <a:xfrm>
                <a:off x="1" y="3887950"/>
                <a:ext cx="1219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𝑡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3887950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1C2AE46-0C8E-5281-2529-03B793ECBC86}"/>
              </a:ext>
            </a:extLst>
          </p:cNvPr>
          <p:cNvSpPr/>
          <p:nvPr/>
        </p:nvSpPr>
        <p:spPr>
          <a:xfrm>
            <a:off x="4404852" y="3842998"/>
            <a:ext cx="3392129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2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Symbolic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78F8D-41CB-3795-3829-9EC13AAB8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1386702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Adversary can drop and inject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respecting cryptographic assumptions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We want to track whether a term is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computable by the adversary </a:t>
                </a:r>
                <a:r>
                  <a:rPr lang="en-US" sz="2400" dirty="0">
                    <a:latin typeface="Source Sans Pro"/>
                    <a:ea typeface="Source Sans Pro"/>
                  </a:rPr>
                  <a:t>(i.e.,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)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We can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inductively define </a:t>
                </a:r>
                <a:r>
                  <a:rPr lang="en-US" sz="2400" dirty="0">
                    <a:latin typeface="Source Sans Pro"/>
                    <a:ea typeface="Source Sans Pro"/>
                  </a:rPr>
                  <a:t>the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78F8D-41CB-3795-3829-9EC13AAB8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1386702"/>
              </a:xfrm>
              <a:blipFill>
                <a:blip r:embed="rId2"/>
                <a:stretch>
                  <a:fillRect l="-844" t="-6364"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8BD60-3484-79FA-3B30-3B0ADB96A3BC}"/>
              </a:ext>
            </a:extLst>
          </p:cNvPr>
          <p:cNvSpPr txBox="1"/>
          <p:nvPr/>
        </p:nvSpPr>
        <p:spPr>
          <a:xfrm>
            <a:off x="2949934" y="48502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/>
              <p:nvPr/>
            </p:nvSpPr>
            <p:spPr>
              <a:xfrm>
                <a:off x="-3290523" y="3341595"/>
                <a:ext cx="1219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0523" y="3341595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/>
              <p:nvPr/>
            </p:nvSpPr>
            <p:spPr>
              <a:xfrm>
                <a:off x="-3334326" y="3852469"/>
                <a:ext cx="12192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𝑒𝑛𝑐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34326" y="3852469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1C2AE46-0C8E-5281-2529-03B793ECBC86}"/>
              </a:ext>
            </a:extLst>
          </p:cNvPr>
          <p:cNvSpPr/>
          <p:nvPr/>
        </p:nvSpPr>
        <p:spPr>
          <a:xfrm>
            <a:off x="1631676" y="3807518"/>
            <a:ext cx="2334009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2C5FD2-683D-B87E-3730-F2224B24B927}"/>
                  </a:ext>
                </a:extLst>
              </p:cNvPr>
              <p:cNvSpPr txBox="1"/>
              <p:nvPr/>
            </p:nvSpPr>
            <p:spPr>
              <a:xfrm>
                <a:off x="6422699" y="3377076"/>
                <a:ext cx="3392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𝑒𝑛𝑐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)∈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2C5FD2-683D-B87E-3730-F2224B24B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699" y="3377076"/>
                <a:ext cx="3392129" cy="461665"/>
              </a:xfrm>
              <a:prstGeom prst="rect">
                <a:avLst/>
              </a:prstGeom>
              <a:blipFill>
                <a:blip r:embed="rId5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AEF414-092B-5E69-422E-EB8781B462AE}"/>
                  </a:ext>
                </a:extLst>
              </p:cNvPr>
              <p:cNvSpPr txBox="1"/>
              <p:nvPr/>
            </p:nvSpPr>
            <p:spPr>
              <a:xfrm>
                <a:off x="-1634249" y="3861286"/>
                <a:ext cx="1963533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AEF414-092B-5E69-422E-EB8781B46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34249" y="3861286"/>
                <a:ext cx="19635338" cy="46166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FED48841-6151-01CF-D1A0-B680841AA209}"/>
              </a:ext>
            </a:extLst>
          </p:cNvPr>
          <p:cNvSpPr/>
          <p:nvPr/>
        </p:nvSpPr>
        <p:spPr>
          <a:xfrm>
            <a:off x="6422699" y="3852142"/>
            <a:ext cx="3392129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331F-C23A-203D-29CE-425308E0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9B0F-70D7-34B6-60AC-1068790D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Symbolic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78F8D-41CB-3795-3829-9EC13AAB8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1386702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Adversary can drop and inject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respecting cryptographic assumptions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We want to track whether a term is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computable by the adversary </a:t>
                </a:r>
                <a:r>
                  <a:rPr lang="en-US" sz="2400" dirty="0">
                    <a:latin typeface="Source Sans Pro"/>
                    <a:ea typeface="Source Sans Pro"/>
                  </a:rPr>
                  <a:t>(i.e.,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)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We can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inductively define </a:t>
                </a:r>
                <a:r>
                  <a:rPr lang="en-US" sz="2400" dirty="0">
                    <a:latin typeface="Source Sans Pro"/>
                    <a:ea typeface="Source Sans Pro"/>
                  </a:rPr>
                  <a:t>the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678F8D-41CB-3795-3829-9EC13AAB8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1386702"/>
              </a:xfrm>
              <a:blipFill>
                <a:blip r:embed="rId2"/>
                <a:stretch>
                  <a:fillRect l="-844" t="-6364"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E6C2EE-856D-A3BB-DBAA-302F9B8031C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/>
              <p:nvPr/>
            </p:nvSpPr>
            <p:spPr>
              <a:xfrm>
                <a:off x="1631675" y="3341595"/>
                <a:ext cx="23340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0732B8-3A2A-8C88-6EE2-A5ABE76AB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675" y="3341595"/>
                <a:ext cx="2334008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/>
              <p:nvPr/>
            </p:nvSpPr>
            <p:spPr>
              <a:xfrm>
                <a:off x="1631676" y="3852469"/>
                <a:ext cx="23340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⟨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⟩∈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E95618-05EF-3143-95CB-DAC906200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676" y="3852469"/>
                <a:ext cx="2334009" cy="461665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1C2AE46-0C8E-5281-2529-03B793ECBC86}"/>
              </a:ext>
            </a:extLst>
          </p:cNvPr>
          <p:cNvSpPr/>
          <p:nvPr/>
        </p:nvSpPr>
        <p:spPr>
          <a:xfrm>
            <a:off x="1631676" y="3807518"/>
            <a:ext cx="2334009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2C5FD2-683D-B87E-3730-F2224B24B927}"/>
                  </a:ext>
                </a:extLst>
              </p:cNvPr>
              <p:cNvSpPr txBox="1"/>
              <p:nvPr/>
            </p:nvSpPr>
            <p:spPr>
              <a:xfrm>
                <a:off x="4261915" y="3349001"/>
                <a:ext cx="3392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⟨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⟩∈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2C5FD2-683D-B87E-3730-F2224B24B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915" y="3349001"/>
                <a:ext cx="3392129" cy="461665"/>
              </a:xfrm>
              <a:prstGeom prst="rect">
                <a:avLst/>
              </a:prstGeom>
              <a:blipFill>
                <a:blip r:embed="rId5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AEF414-092B-5E69-422E-EB8781B462AE}"/>
                  </a:ext>
                </a:extLst>
              </p:cNvPr>
              <p:cNvSpPr txBox="1"/>
              <p:nvPr/>
            </p:nvSpPr>
            <p:spPr>
              <a:xfrm>
                <a:off x="4261915" y="3833211"/>
                <a:ext cx="3392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AEF414-092B-5E69-422E-EB8781B46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1915" y="3833211"/>
                <a:ext cx="339212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FED48841-6151-01CF-D1A0-B680841AA209}"/>
              </a:ext>
            </a:extLst>
          </p:cNvPr>
          <p:cNvSpPr/>
          <p:nvPr/>
        </p:nvSpPr>
        <p:spPr>
          <a:xfrm>
            <a:off x="5172889" y="3824066"/>
            <a:ext cx="1487056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CCB91D-F1A5-392F-115C-266E2196C98F}"/>
                  </a:ext>
                </a:extLst>
              </p:cNvPr>
              <p:cNvSpPr txBox="1"/>
              <p:nvPr/>
            </p:nvSpPr>
            <p:spPr>
              <a:xfrm>
                <a:off x="6937697" y="3323123"/>
                <a:ext cx="3392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⟨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⟩∈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CCB91D-F1A5-392F-115C-266E2196C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697" y="3323123"/>
                <a:ext cx="3392129" cy="461665"/>
              </a:xfrm>
              <a:prstGeom prst="rect">
                <a:avLst/>
              </a:prstGeom>
              <a:blipFill>
                <a:blip r:embed="rId7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2A8550-8B4F-5108-F14D-AB39FF45F4D7}"/>
                  </a:ext>
                </a:extLst>
              </p:cNvPr>
              <p:cNvSpPr txBox="1"/>
              <p:nvPr/>
            </p:nvSpPr>
            <p:spPr>
              <a:xfrm>
                <a:off x="6937697" y="3807333"/>
                <a:ext cx="33921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2A8550-8B4F-5108-F14D-AB39FF45F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697" y="3807333"/>
                <a:ext cx="3392129" cy="461665"/>
              </a:xfrm>
              <a:prstGeom prst="rect">
                <a:avLst/>
              </a:prstGeom>
              <a:blipFill>
                <a:blip r:embed="rId8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721D8EBB-616F-A69E-6C34-66B454F3FFD6}"/>
              </a:ext>
            </a:extLst>
          </p:cNvPr>
          <p:cNvSpPr/>
          <p:nvPr/>
        </p:nvSpPr>
        <p:spPr>
          <a:xfrm>
            <a:off x="7848671" y="3798188"/>
            <a:ext cx="1487056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105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62D15-35BC-BCF6-BE0F-8854AFE97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Sans Pro"/>
                <a:ea typeface="Source Sans Pro"/>
              </a:rPr>
              <a:t>How to reason about protocols? We need… </a:t>
            </a:r>
          </a:p>
          <a:p>
            <a:pPr marL="514350" indent="-514350">
              <a:buAutoNum type="arabicPeriod"/>
            </a:pPr>
            <a:r>
              <a:rPr lang="en-US" dirty="0">
                <a:latin typeface="Source Sans Pro"/>
                <a:ea typeface="Source Sans Pro"/>
              </a:rPr>
              <a:t>A way to formalize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protocols</a:t>
            </a:r>
          </a:p>
          <a:p>
            <a:pPr marL="971550" lvl="1" indent="-514350">
              <a:buAutoNum type="arabicPeriod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Asynchronous communication </a:t>
            </a:r>
            <a:r>
              <a:rPr lang="en-US" dirty="0">
                <a:latin typeface="Source Sans Pro"/>
                <a:ea typeface="Source Sans Pro"/>
              </a:rPr>
              <a:t>with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symbolic terms</a:t>
            </a:r>
          </a:p>
          <a:p>
            <a:pPr marL="971550" lvl="1" indent="-514350">
              <a:buAutoNum type="arabicPeriod"/>
            </a:pPr>
            <a:r>
              <a:rPr lang="en-US" dirty="0">
                <a:latin typeface="Source Sans Pro"/>
                <a:ea typeface="Source Sans Pro"/>
              </a:rPr>
              <a:t>Nondeterministic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adversarial influence</a:t>
            </a:r>
          </a:p>
          <a:p>
            <a:pPr marL="971550" lvl="1" indent="-514350">
              <a:buAutoNum type="arabicPeriod"/>
            </a:pPr>
            <a:r>
              <a:rPr lang="en-US" dirty="0">
                <a:latin typeface="Source Sans Pro"/>
                <a:ea typeface="Source Sans Pro"/>
              </a:rPr>
              <a:t>Weave together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different protocol sessions</a:t>
            </a:r>
          </a:p>
          <a:p>
            <a:pPr marL="971550" lvl="1" indent="-514350">
              <a:buAutoNum type="arabicPeriod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Executable specification </a:t>
            </a:r>
            <a:r>
              <a:rPr lang="en-US" dirty="0">
                <a:latin typeface="Source Sans Pro"/>
                <a:ea typeface="Source Sans Pro"/>
              </a:rPr>
              <a:t>(going from specifications to traces)</a:t>
            </a:r>
          </a:p>
          <a:p>
            <a:pPr marL="514350" indent="-514350">
              <a:buAutoNum type="arabicPeriod"/>
            </a:pPr>
            <a:r>
              <a:rPr lang="en-US" dirty="0">
                <a:latin typeface="Source Sans Pro"/>
                <a:ea typeface="Source Sans Pro"/>
              </a:rPr>
              <a:t>A way to formalize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security properties</a:t>
            </a:r>
          </a:p>
          <a:p>
            <a:pPr marL="514350" indent="-514350">
              <a:buAutoNum type="arabicPeriod"/>
            </a:pPr>
            <a:r>
              <a:rPr lang="en-US" dirty="0">
                <a:latin typeface="Source Sans Pro"/>
                <a:ea typeface="Source Sans Pro"/>
              </a:rPr>
              <a:t>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means of checking </a:t>
            </a:r>
            <a:r>
              <a:rPr lang="en-US" dirty="0">
                <a:latin typeface="Source Sans Pro"/>
                <a:ea typeface="Source Sans Pro"/>
              </a:rPr>
              <a:t>if protocols satisfy properties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2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dirty="0">
                    <a:latin typeface="Source Sans Pro"/>
                    <a:ea typeface="Source Sans Pro"/>
                  </a:rPr>
                  <a:t>In general, the two main approaches are based on </a:t>
                </a:r>
                <a:r>
                  <a:rPr lang="en-US" dirty="0">
                    <a:latin typeface="Source Sans Pro"/>
                    <a:ea typeface="Source Sans Pro"/>
                    <a:cs typeface="+mn-lt"/>
                  </a:rPr>
                  <a:t>the </a:t>
                </a:r>
                <a:r>
                  <a:rPr lang="en-US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  <a:cs typeface="+mn-lt"/>
                  </a:rPr>
                  <a:t>applied </a:t>
                </a:r>
                <a:r>
                  <a:rPr lang="en-US" dirty="0">
                    <a:solidFill>
                      <a:schemeClr val="accent6">
                        <a:lumMod val="76000"/>
                      </a:schemeClr>
                    </a:solidFill>
                    <a:latin typeface="Aptos"/>
                    <a:ea typeface="Source Sans Pro"/>
                  </a:rPr>
                  <a:t>π</a:t>
                </a:r>
                <a:r>
                  <a:rPr lang="en-US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-calculus </a:t>
                </a:r>
                <a:r>
                  <a:rPr lang="en-US" dirty="0">
                    <a:latin typeface="Source Sans Pro"/>
                    <a:ea typeface="Source Sans Pro"/>
                  </a:rPr>
                  <a:t>and </a:t>
                </a:r>
                <a:r>
                  <a:rPr lang="en-US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multiset rewriting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We can view a protocol as a set of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multiset rewriting rules</a:t>
                </a:r>
              </a:p>
              <a:p>
                <a:r>
                  <a:rPr lang="en-US" dirty="0">
                    <a:latin typeface="Source Sans Pro"/>
                    <a:ea typeface="Source Sans Pro"/>
                  </a:rPr>
                  <a:t>Each rule intuitively denotes a protocol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state or mode transition</a:t>
                </a:r>
              </a:p>
              <a:p>
                <a:r>
                  <a:rPr lang="en-US" dirty="0">
                    <a:latin typeface="Source Sans Pro"/>
                    <a:ea typeface="Source Sans Pro"/>
                  </a:rPr>
                  <a:t>We rewrite multisets of facts, each fact a term of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b="0" dirty="0">
                    <a:latin typeface="Source Sans Pro"/>
                    <a:ea typeface="Source Sans Pro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𝐹</m:t>
                    </m:r>
                  </m:oMath>
                </a14:m>
                <a:r>
                  <a:rPr lang="en-US" b="0" dirty="0">
                    <a:latin typeface="Source Sans Pro"/>
                    <a:ea typeface="Source Sans Pro"/>
                  </a:rPr>
                  <a:t> is a </a:t>
                </a:r>
                <a:r>
                  <a:rPr lang="en-US" b="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fact symbol</a:t>
                </a:r>
              </a:p>
              <a:p>
                <a:r>
                  <a:rPr lang="en-US" dirty="0">
                    <a:latin typeface="Source Sans Pro"/>
                    <a:ea typeface="Source Sans Pro"/>
                  </a:rPr>
                  <a:t>Terms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through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sSub>
                      <m:sSubPr>
                        <m:ctrlPr>
                          <a:rPr lang="en-US" i="1" dirty="0" err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cannot contain fact symbols</a:t>
                </a:r>
              </a:p>
              <a:p>
                <a:endParaRPr lang="en-US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72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A protocol contains both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honest rules </a:t>
                </a:r>
                <a:r>
                  <a:rPr lang="en-US" sz="2400" dirty="0">
                    <a:latin typeface="Source Sans Pro"/>
                    <a:ea typeface="Source Sans Pro"/>
                  </a:rPr>
                  <a:t>and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adversary rules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Iteratively “run” rewrite rules to update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global state </a:t>
                </a:r>
                <a:r>
                  <a:rPr lang="en-US" sz="2400" dirty="0">
                    <a:latin typeface="Source Sans Pro"/>
                    <a:ea typeface="Source Sans Pro"/>
                  </a:rPr>
                  <a:t>(bag of facts)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We consider distinguished fact symbols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𝐼𝑛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𝑂𝑢𝑡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𝐹𝑟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for adversarial modeling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Honest fact symbols store protocol state, e.g.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!</m:t>
                    </m:r>
                    <m:r>
                      <a:rPr lang="en-US" sz="2400" i="1" dirty="0" err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𝐾𝑒𝑦𝐵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(.)</m:t>
                    </m:r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!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denotes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persistence</a:t>
                </a:r>
                <a:r>
                  <a:rPr lang="en-US" sz="2400" dirty="0">
                    <a:latin typeface="Source Sans Pro"/>
                    <a:ea typeface="Source Sans Pro"/>
                  </a:rPr>
                  <a:t>)</a:t>
                </a: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Example adversary rules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𝑂𝑢𝑡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→{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)}</m:t>
                    </m:r>
                  </m:oMath>
                </a14:m>
                <a:r>
                  <a:rPr lang="en-US" sz="2000" dirty="0">
                    <a:latin typeface="Source Sans Pro"/>
                    <a:ea typeface="Source Sans Pro"/>
                  </a:rPr>
                  <a:t>,</a:t>
                </a:r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!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𝐾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→{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𝐼𝑛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)}</m:t>
                    </m:r>
                  </m:oMath>
                </a14:m>
                <a:r>
                  <a:rPr lang="en-US" sz="2000" dirty="0">
                    <a:latin typeface="Source Sans Pro"/>
                    <a:ea typeface="Source Sans Pro"/>
                  </a:rPr>
                  <a:t>,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!</m:t>
                        </m:r>
                        <m:r>
                          <a:rPr lang="en-US" sz="2000" i="1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𝐾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!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𝐾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sz="20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→{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𝑒𝑛𝑐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000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endParaRPr lang="en-US" sz="2000" dirty="0">
                  <a:latin typeface="Source Sans Pro"/>
                  <a:ea typeface="Source Sans Pro"/>
                </a:endParaRPr>
              </a:p>
              <a:p>
                <a:r>
                  <a:rPr lang="en-US" sz="2400" dirty="0">
                    <a:latin typeface="Source Sans Pro"/>
                    <a:ea typeface="Source Sans Pro"/>
                  </a:rPr>
                  <a:t>Example honest rule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𝐼𝑛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 !</m:t>
                          </m:r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𝐾𝑒𝑦𝐵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{</m:t>
                          </m:r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𝑀𝑦𝐸𝑛𝑐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}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{</m:t>
                      </m:r>
                      <m:r>
                        <a:rPr lang="en-US" sz="20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𝑂𝑢𝑡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𝑒𝑛𝑐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Source Sans Pro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}</m:t>
                      </m:r>
                    </m:oMath>
                  </m:oMathPara>
                </a14:m>
                <a:endParaRPr lang="en-US" sz="2400" dirty="0"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844" t="-1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422F6-B5FB-9CC6-B820-2DF9BF62CD11}"/>
              </a:ext>
            </a:extLst>
          </p:cNvPr>
          <p:cNvSpPr txBox="1"/>
          <p:nvPr/>
        </p:nvSpPr>
        <p:spPr>
          <a:xfrm>
            <a:off x="4068509" y="5705334"/>
            <a:ext cx="5012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Source Sans Pro"/>
                <a:ea typeface="Source Sans Pro"/>
              </a:rPr>
              <a:t>Steps can be labeled with facts, called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action facts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4FECC9-7D95-37DB-D85C-41C031B66C73}"/>
              </a:ext>
            </a:extLst>
          </p:cNvPr>
          <p:cNvSpPr/>
          <p:nvPr/>
        </p:nvSpPr>
        <p:spPr>
          <a:xfrm>
            <a:off x="5578679" y="5117284"/>
            <a:ext cx="1400961" cy="45311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65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Given a set of rewrite rules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we can define a labeled transition relation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bSup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  <a:blipFill>
                <a:blip r:embed="rId2"/>
                <a:stretch>
                  <a:fillRect l="-844" t="-2000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EF8A5-4E6D-A5B6-ADC5-D4EEE0F855E9}"/>
              </a:ext>
            </a:extLst>
          </p:cNvPr>
          <p:cNvSpPr/>
          <p:nvPr/>
        </p:nvSpPr>
        <p:spPr>
          <a:xfrm>
            <a:off x="4257107" y="3058899"/>
            <a:ext cx="3693934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/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𝑅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𝑆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 \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#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𝑙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∪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/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𝑔𝑖𝑛𝑠𝑡𝑠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𝑅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/>
                          <a:ea typeface="Source Sans Pro"/>
                        </a:rPr>
                        <m:t>     </m:t>
                      </m:r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⊆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blipFill>
                <a:blip r:embed="rId4"/>
                <a:stretch>
                  <a:fillRect t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429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Given a set of rewrite rules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we can define a labeled transition relation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bSup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  <a:blipFill>
                <a:blip r:embed="rId2"/>
                <a:stretch>
                  <a:fillRect l="-844" t="-2000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EF8A5-4E6D-A5B6-ADC5-D4EEE0F855E9}"/>
              </a:ext>
            </a:extLst>
          </p:cNvPr>
          <p:cNvSpPr/>
          <p:nvPr/>
        </p:nvSpPr>
        <p:spPr>
          <a:xfrm>
            <a:off x="4257107" y="3058899"/>
            <a:ext cx="3693934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/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𝑅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𝑆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 \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#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𝑙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∪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/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𝑔𝑖𝑛𝑠𝑡𝑠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𝑅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/>
                          <a:ea typeface="Source Sans Pro"/>
                        </a:rPr>
                        <m:t>     </m:t>
                      </m:r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⊆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blipFill>
                <a:blip r:embed="rId4"/>
                <a:stretch>
                  <a:fillRect t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/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𝑟</m:t>
                    </m:r>
                  </m:oMath>
                </a14:m>
                <a:r>
                  <a:rPr lang="en-US" sz="18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sz="1800" dirty="0">
                    <a:latin typeface="Source Sans Pro"/>
                    <a:ea typeface="Source Sans Pro"/>
                  </a:rPr>
                  <a:t>is a ground instance of one of the rewrite rules </a:t>
                </a:r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blipFill>
                <a:blip r:embed="rId5"/>
                <a:stretch>
                  <a:fillRect l="-2146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B11E1C1A-D555-2170-A6F4-458A7CFC749C}"/>
              </a:ext>
            </a:extLst>
          </p:cNvPr>
          <p:cNvSpPr/>
          <p:nvPr/>
        </p:nvSpPr>
        <p:spPr>
          <a:xfrm>
            <a:off x="4110640" y="2463069"/>
            <a:ext cx="2817024" cy="70814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66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Given a set of rewrite rules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we can define a labeled transition relation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bSup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  <a:blipFill>
                <a:blip r:embed="rId2"/>
                <a:stretch>
                  <a:fillRect l="-844" t="-2000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EF8A5-4E6D-A5B6-ADC5-D4EEE0F855E9}"/>
              </a:ext>
            </a:extLst>
          </p:cNvPr>
          <p:cNvSpPr/>
          <p:nvPr/>
        </p:nvSpPr>
        <p:spPr>
          <a:xfrm>
            <a:off x="4257107" y="3058899"/>
            <a:ext cx="3693934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/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𝑅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𝑆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 \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#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𝑙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∪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/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𝑔𝑖𝑛𝑠𝑡𝑠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𝑅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/>
                          <a:ea typeface="Source Sans Pro"/>
                        </a:rPr>
                        <m:t>     </m:t>
                      </m:r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⊆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blipFill>
                <a:blip r:embed="rId4"/>
                <a:stretch>
                  <a:fillRect t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/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𝑟</m:t>
                    </m:r>
                  </m:oMath>
                </a14:m>
                <a:r>
                  <a:rPr lang="en-US" sz="1800" dirty="0">
                    <a:solidFill>
                      <a:schemeClr val="bg2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 is a ground instance of one of the rewrite rules </a:t>
                </a:r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blipFill>
                <a:blip r:embed="rId5"/>
                <a:stretch>
                  <a:fillRect l="-2146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4A4F1A-08B2-D710-566E-A6FC1894540C}"/>
                  </a:ext>
                </a:extLst>
              </p:cNvPr>
              <p:cNvSpPr txBox="1"/>
              <p:nvPr/>
            </p:nvSpPr>
            <p:spPr>
              <a:xfrm>
                <a:off x="7891549" y="2381107"/>
                <a:ext cx="29593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dirty="0">
                    <a:ea typeface="Source Sans Pro"/>
                  </a:rPr>
                  <a:t>The current state contains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4A4F1A-08B2-D710-566E-A6FC18945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549" y="2381107"/>
                <a:ext cx="2959331" cy="369332"/>
              </a:xfrm>
              <a:prstGeom prst="rect">
                <a:avLst/>
              </a:prstGeom>
              <a:blipFill>
                <a:blip r:embed="rId6"/>
                <a:stretch>
                  <a:fillRect l="-1709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B11E1C1A-D555-2170-A6F4-458A7CFC749C}"/>
              </a:ext>
            </a:extLst>
          </p:cNvPr>
          <p:cNvSpPr/>
          <p:nvPr/>
        </p:nvSpPr>
        <p:spPr>
          <a:xfrm>
            <a:off x="6882937" y="2536673"/>
            <a:ext cx="1263535" cy="6048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197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2400" dirty="0">
                    <a:latin typeface="Source Sans Pro"/>
                    <a:ea typeface="Source Sans Pro"/>
                  </a:rPr>
                  <a:t>Given a set of rewrite rules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we can define a labeled transition relation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bSup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  <a:blipFill>
                <a:blip r:embed="rId2"/>
                <a:stretch>
                  <a:fillRect l="-844" t="-2000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EF8A5-4E6D-A5B6-ADC5-D4EEE0F855E9}"/>
              </a:ext>
            </a:extLst>
          </p:cNvPr>
          <p:cNvSpPr/>
          <p:nvPr/>
        </p:nvSpPr>
        <p:spPr>
          <a:xfrm>
            <a:off x="4257107" y="3058899"/>
            <a:ext cx="3693934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/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𝑅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𝑆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 \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#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𝑙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∪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/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𝑔𝑖𝑛𝑠𝑡𝑠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𝑅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/>
                          <a:ea typeface="Source Sans Pro"/>
                        </a:rPr>
                        <m:t>     </m:t>
                      </m:r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⊆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blipFill>
                <a:blip r:embed="rId4"/>
                <a:stretch>
                  <a:fillRect t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/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𝑟</m:t>
                    </m:r>
                  </m:oMath>
                </a14:m>
                <a:r>
                  <a:rPr lang="en-US" sz="1800" dirty="0">
                    <a:solidFill>
                      <a:schemeClr val="bg2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 is a ground instance of one of the rewrite rules </a:t>
                </a:r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blipFill>
                <a:blip r:embed="rId5"/>
                <a:stretch>
                  <a:fillRect l="-2146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4A4F1A-08B2-D710-566E-A6FC1894540C}"/>
                  </a:ext>
                </a:extLst>
              </p:cNvPr>
              <p:cNvSpPr txBox="1"/>
              <p:nvPr/>
            </p:nvSpPr>
            <p:spPr>
              <a:xfrm>
                <a:off x="7891549" y="2381107"/>
                <a:ext cx="29593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dirty="0">
                    <a:solidFill>
                      <a:schemeClr val="bg2">
                        <a:lumMod val="75000"/>
                      </a:schemeClr>
                    </a:solidFill>
                    <a:ea typeface="Source Sans Pro"/>
                  </a:rPr>
                  <a:t>The current state contains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</m:oMath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4A4F1A-08B2-D710-566E-A6FC18945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549" y="2381107"/>
                <a:ext cx="2959331" cy="369332"/>
              </a:xfrm>
              <a:prstGeom prst="rect">
                <a:avLst/>
              </a:prstGeom>
              <a:blipFill>
                <a:blip r:embed="rId6"/>
                <a:stretch>
                  <a:fillRect l="-1709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EC5728C-5725-B938-438A-BCD65E614992}"/>
              </a:ext>
            </a:extLst>
          </p:cNvPr>
          <p:cNvSpPr txBox="1"/>
          <p:nvPr/>
        </p:nvSpPr>
        <p:spPr>
          <a:xfrm>
            <a:off x="4419393" y="3702960"/>
            <a:ext cx="3785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/>
                <a:ea typeface="Source Sans Pro"/>
              </a:rPr>
              <a:t>Update global state by removing l and introducing r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515F5B-8A9F-11E8-2FC6-22B93BB403E9}"/>
              </a:ext>
            </a:extLst>
          </p:cNvPr>
          <p:cNvSpPr/>
          <p:nvPr/>
        </p:nvSpPr>
        <p:spPr>
          <a:xfrm>
            <a:off x="4419393" y="2950225"/>
            <a:ext cx="3186752" cy="7250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75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Protocols in the Symbolic Model</a:t>
            </a:r>
            <a:endParaRPr lang="en-US" sz="4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Given a set of rewrite rules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, we can define a labeled transition relation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bSup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</a:t>
                </a:r>
              </a:p>
              <a:p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62D15-35BC-BCF6-BE0F-8854AFE972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428053"/>
              </a:xfrm>
              <a:blipFill>
                <a:blip r:embed="rId2"/>
                <a:stretch>
                  <a:fillRect l="-965" t="-20000" b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7EF8A5-4E6D-A5B6-ADC5-D4EEE0F855E9}"/>
              </a:ext>
            </a:extLst>
          </p:cNvPr>
          <p:cNvSpPr/>
          <p:nvPr/>
        </p:nvSpPr>
        <p:spPr>
          <a:xfrm>
            <a:off x="4257107" y="3058899"/>
            <a:ext cx="3693934" cy="182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/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𝑅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bSup>
                      <m:d>
                        <m:d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𝑆</m:t>
                              </m:r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 \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#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𝑙</m:t>
                          </m:r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∪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683638-6FF1-0E7C-658D-1A134AB1F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58899"/>
                <a:ext cx="12191999" cy="8785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/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𝛼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𝑟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∈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𝑔𝑖𝑛𝑠𝑡𝑠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𝑅</m:t>
                      </m:r>
                      <m:r>
                        <a:rPr lang="en-US" sz="24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ource Sans Pro"/>
                          <a:ea typeface="Source Sans Pro"/>
                        </a:rPr>
                        <m:t>     </m:t>
                      </m:r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𝑙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⊆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#</m:t>
                          </m:r>
                        </m:sup>
                      </m:sSup>
                      <m:r>
                        <a:rPr lang="en-US" sz="2400" i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F809F1-6DC9-0403-9427-D2E64904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" y="2575383"/>
                <a:ext cx="12191999" cy="837665"/>
              </a:xfrm>
              <a:prstGeom prst="rect">
                <a:avLst/>
              </a:prstGeom>
              <a:blipFill>
                <a:blip r:embed="rId4"/>
                <a:stretch>
                  <a:fillRect t="-4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/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p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𝑟</m:t>
                    </m:r>
                  </m:oMath>
                </a14:m>
                <a:r>
                  <a:rPr lang="en-US" sz="1800" dirty="0">
                    <a:solidFill>
                      <a:schemeClr val="bg2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 is a ground instance of one of the rewrite rules </a:t>
                </a:r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E0CBE-8CB4-22CE-AE05-BB8D2ADCA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229" y="2292389"/>
                <a:ext cx="2959331" cy="646331"/>
              </a:xfrm>
              <a:prstGeom prst="rect">
                <a:avLst/>
              </a:prstGeom>
              <a:blipFill>
                <a:blip r:embed="rId5"/>
                <a:stretch>
                  <a:fillRect l="-2146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4A4F1A-08B2-D710-566E-A6FC1894540C}"/>
                  </a:ext>
                </a:extLst>
              </p:cNvPr>
              <p:cNvSpPr txBox="1"/>
              <p:nvPr/>
            </p:nvSpPr>
            <p:spPr>
              <a:xfrm>
                <a:off x="7891549" y="2381107"/>
                <a:ext cx="29593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dirty="0">
                    <a:solidFill>
                      <a:schemeClr val="bg2">
                        <a:lumMod val="75000"/>
                      </a:schemeClr>
                    </a:solidFill>
                    <a:ea typeface="Source Sans Pro"/>
                  </a:rPr>
                  <a:t>The current state contains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𝑙</m:t>
                    </m:r>
                  </m:oMath>
                </a14:m>
                <a:endParaRPr lang="en-US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4A4F1A-08B2-D710-566E-A6FC18945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549" y="2381107"/>
                <a:ext cx="2959331" cy="369332"/>
              </a:xfrm>
              <a:prstGeom prst="rect">
                <a:avLst/>
              </a:prstGeom>
              <a:blipFill>
                <a:blip r:embed="rId6"/>
                <a:stretch>
                  <a:fillRect l="-1709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EC5728C-5725-B938-438A-BCD65E614992}"/>
              </a:ext>
            </a:extLst>
          </p:cNvPr>
          <p:cNvSpPr txBox="1"/>
          <p:nvPr/>
        </p:nvSpPr>
        <p:spPr>
          <a:xfrm>
            <a:off x="4419393" y="3702960"/>
            <a:ext cx="3785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Source Sans Pro"/>
                <a:ea typeface="Source Sans Pro"/>
              </a:rPr>
              <a:t>Update global state by removing l and introducing r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ABB4E92A-B347-FD3D-540E-9FD07FAD58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263" y="4538346"/>
                <a:ext cx="10515600" cy="185414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latin typeface="Source Sans Pro"/>
                    <a:ea typeface="Source Sans Pro"/>
                  </a:rPr>
                  <a:t>A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trace</a:t>
                </a:r>
                <a:r>
                  <a:rPr lang="en-US" sz="2400" dirty="0">
                    <a:latin typeface="Source Sans Pro"/>
                    <a:ea typeface="Source Sans Pro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 is a sequence of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𝑆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0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…, </m:t>
                    </m:r>
                    <m:sSub>
                      <m:sSubPr>
                        <m:ctrlPr>
                          <a:rPr lang="en-US" sz="2400" i="1" dirty="0" err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err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𝑆</m:t>
                        </m:r>
                      </m:e>
                      <m:sub>
                        <m:r>
                          <a:rPr lang="en-US" sz="2400" i="1" dirty="0" err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𝑛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such that</a:t>
                </a:r>
              </a:p>
              <a:p>
                <a:pP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𝑆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0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=∅ 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𝑆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Sup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</m:t>
                        </m:r>
                      </m:sub>
                      <m:sup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𝛼</m:t>
                        </m:r>
                      </m:sup>
                    </m:sSubSup>
                    <m:sSub>
                      <m:sSubPr>
                        <m:ctrlP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𝑆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  <m:r>
                          <a:rPr lang="en-US" sz="2400" b="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+1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/>
                    <a:ea typeface="Source Sans Pro"/>
                  </a:rPr>
                  <a:t>for all</a:t>
                </a:r>
                <a:r>
                  <a:rPr lang="en-US" sz="2400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>
                  <a:buFont typeface="Wingdings" pitchFamily="2" charset="2"/>
                  <a:buChar char="§"/>
                </a:pPr>
                <a:r>
                  <a:rPr lang="en-US" sz="2400" dirty="0">
                    <a:latin typeface="Source Sans Pro"/>
                    <a:ea typeface="Source Sans Pro"/>
                  </a:rPr>
                  <a:t>Fresh rule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{}</m:t>
                    </m:r>
                    <m:r>
                      <a:rPr lang="en-US" sz="2400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</m:t>
                    </m:r>
                    <m:r>
                      <a:rPr lang="en-US" sz="240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{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𝐹𝑟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𝑥</m:t>
                    </m:r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)}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76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sz="2400" dirty="0">
                    <a:latin typeface="Source Sans Pro"/>
                    <a:ea typeface="Source Sans Pro"/>
                  </a:rPr>
                  <a:t>used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at most once </a:t>
                </a:r>
                <a:r>
                  <a:rPr lang="en-US" sz="2400" dirty="0">
                    <a:latin typeface="Source Sans Pro"/>
                    <a:ea typeface="Source Sans Pro"/>
                  </a:rPr>
                  <a:t>for each instantiation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𝑥</m:t>
                    </m:r>
                  </m:oMath>
                </a14:m>
                <a:endPara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76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ABB4E92A-B347-FD3D-540E-9FD07FAD5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3" y="4538346"/>
                <a:ext cx="10515600" cy="1854141"/>
              </a:xfrm>
              <a:prstGeom prst="rect">
                <a:avLst/>
              </a:prstGeom>
              <a:blipFill>
                <a:blip r:embed="rId7"/>
                <a:stretch>
                  <a:fillRect l="-844" t="-4762" b="-3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43142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Needham-Schroeder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86D1EC-B8A1-3888-792C-9DF368AA63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4" t="2378" r="50" b="125"/>
          <a:stretch>
            <a:fillRect/>
          </a:stretch>
        </p:blipFill>
        <p:spPr>
          <a:xfrm>
            <a:off x="951263" y="1690688"/>
            <a:ext cx="5555351" cy="219135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397799-6A28-FE9A-82ED-C8350B0937F1}"/>
                  </a:ext>
                </a:extLst>
              </p:cNvPr>
              <p:cNvSpPr txBox="1"/>
              <p:nvPr/>
            </p:nvSpPr>
            <p:spPr>
              <a:xfrm>
                <a:off x="809106" y="3959752"/>
                <a:ext cx="10824765" cy="681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Source Sans Pro"/>
                    <a:ea typeface="Source Sans Pro"/>
                  </a:rPr>
                  <a:t>First, a means of key generation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𝐹𝑟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→{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𝑆𝑘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𝑃𝑘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𝑝𝑘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𝑠𝑘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𝑂𝑢𝑡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𝐼𝑑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𝑝𝑘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𝑠𝑘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)⟩)}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397799-6A28-FE9A-82ED-C8350B093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6" y="3959752"/>
                <a:ext cx="10824765" cy="681982"/>
              </a:xfrm>
              <a:prstGeom prst="rect">
                <a:avLst/>
              </a:prstGeom>
              <a:blipFill>
                <a:blip r:embed="rId3"/>
                <a:stretch>
                  <a:fillRect l="-469" t="-5556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78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Needham-Schroeder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86D1EC-B8A1-3888-792C-9DF368AA63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4" t="2378" r="50" b="125"/>
          <a:stretch>
            <a:fillRect/>
          </a:stretch>
        </p:blipFill>
        <p:spPr>
          <a:xfrm>
            <a:off x="951263" y="1690688"/>
            <a:ext cx="5555351" cy="219135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8DA54B0-3EF1-2DEF-5B65-08E237603372}"/>
                  </a:ext>
                </a:extLst>
              </p:cNvPr>
              <p:cNvSpPr txBox="1"/>
              <p:nvPr/>
            </p:nvSpPr>
            <p:spPr>
              <a:xfrm>
                <a:off x="809106" y="3959752"/>
                <a:ext cx="10824765" cy="681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Source Sans Pro"/>
                    <a:ea typeface="Source Sans Pro"/>
                  </a:rPr>
                  <a:t>First, a means of key generation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𝐹𝑟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→{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𝑆𝑘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𝑃𝑘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𝑝𝑘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𝑠𝑘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𝑂𝑢𝑡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𝐼𝑑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𝑝𝑘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𝑠𝑘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)⟩)}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8DA54B0-3EF1-2DEF-5B65-08E237603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6" y="3959752"/>
                <a:ext cx="10824765" cy="681982"/>
              </a:xfrm>
              <a:prstGeom prst="rect">
                <a:avLst/>
              </a:prstGeom>
              <a:blipFill>
                <a:blip r:embed="rId3"/>
                <a:stretch>
                  <a:fillRect l="-469" t="-5556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A15A2C-FB87-F720-7F75-D41659803363}"/>
                  </a:ext>
                </a:extLst>
              </p:cNvPr>
              <p:cNvSpPr txBox="1"/>
              <p:nvPr/>
            </p:nvSpPr>
            <p:spPr>
              <a:xfrm>
                <a:off x="809106" y="4719442"/>
                <a:ext cx="119289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Source Sans Pro"/>
                    <a:ea typeface="Source Sans Pro"/>
                  </a:rPr>
                  <a:t>A rule for each honest step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𝐹𝑟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!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𝑃𝑘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𝐼𝑑</m:t>
                            </m:r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,!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𝑃𝑘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𝑃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𝐵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→{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𝑆𝑡𝐴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1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 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𝑂𝑢𝑡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𝑎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_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𝑒𝑛𝑐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⟩,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))}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A15A2C-FB87-F720-7F75-D41659803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6" y="4719442"/>
                <a:ext cx="11928972" cy="646331"/>
              </a:xfrm>
              <a:prstGeom prst="rect">
                <a:avLst/>
              </a:prstGeom>
              <a:blipFill>
                <a:blip r:embed="rId4"/>
                <a:stretch>
                  <a:fillRect l="-425" t="-384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9C0D3729-BC5F-0AD2-8D4B-FDDF3F0243F5}"/>
              </a:ext>
            </a:extLst>
          </p:cNvPr>
          <p:cNvSpPr/>
          <p:nvPr/>
        </p:nvSpPr>
        <p:spPr>
          <a:xfrm>
            <a:off x="1163782" y="2435630"/>
            <a:ext cx="1920240" cy="4655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682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Needham-Schroeder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86D1EC-B8A1-3888-792C-9DF368AA63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4" t="2378" r="50" b="125"/>
          <a:stretch>
            <a:fillRect/>
          </a:stretch>
        </p:blipFill>
        <p:spPr>
          <a:xfrm>
            <a:off x="951263" y="1690688"/>
            <a:ext cx="5555351" cy="219135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8DA54B0-3EF1-2DEF-5B65-08E237603372}"/>
                  </a:ext>
                </a:extLst>
              </p:cNvPr>
              <p:cNvSpPr txBox="1"/>
              <p:nvPr/>
            </p:nvSpPr>
            <p:spPr>
              <a:xfrm>
                <a:off x="809106" y="3959752"/>
                <a:ext cx="10824765" cy="681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Source Sans Pro"/>
                    <a:ea typeface="Source Sans Pro"/>
                  </a:rPr>
                  <a:t>First, a means of key generation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𝐹𝑟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→{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𝑆𝑘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𝑃𝑘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𝑝𝑘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𝑠𝑘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𝑂𝑢𝑡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𝐼𝑑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𝑝𝑘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𝑠𝑘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)⟩)}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8DA54B0-3EF1-2DEF-5B65-08E237603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6" y="3959752"/>
                <a:ext cx="10824765" cy="681982"/>
              </a:xfrm>
              <a:prstGeom prst="rect">
                <a:avLst/>
              </a:prstGeom>
              <a:blipFill>
                <a:blip r:embed="rId3"/>
                <a:stretch>
                  <a:fillRect l="-469" t="-5556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A15A2C-FB87-F720-7F75-D41659803363}"/>
                  </a:ext>
                </a:extLst>
              </p:cNvPr>
              <p:cNvSpPr txBox="1"/>
              <p:nvPr/>
            </p:nvSpPr>
            <p:spPr>
              <a:xfrm>
                <a:off x="809106" y="4719442"/>
                <a:ext cx="1192897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Source Sans Pro"/>
                    <a:ea typeface="Source Sans Pro"/>
                  </a:rPr>
                  <a:t>A rule for each honest step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𝐹𝑟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!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𝑃𝑘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𝐼𝑑</m:t>
                            </m:r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,!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𝑃𝑘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𝑃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𝐵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→{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𝑆𝑡𝐴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1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 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𝑂𝑢𝑡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𝑎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_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𝑒𝑛𝑐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⟩,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))}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</a:p>
              <a:p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...</a:t>
                </a:r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A15A2C-FB87-F720-7F75-D41659803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06" y="4719442"/>
                <a:ext cx="11928972" cy="923330"/>
              </a:xfrm>
              <a:prstGeom prst="rect">
                <a:avLst/>
              </a:prstGeom>
              <a:blipFill>
                <a:blip r:embed="rId4"/>
                <a:stretch>
                  <a:fillRect l="-425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9C0D3729-BC5F-0AD2-8D4B-FDDF3F0243F5}"/>
              </a:ext>
            </a:extLst>
          </p:cNvPr>
          <p:cNvSpPr/>
          <p:nvPr/>
        </p:nvSpPr>
        <p:spPr>
          <a:xfrm>
            <a:off x="1163782" y="2435630"/>
            <a:ext cx="1920240" cy="4655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F7DD3F-582B-1068-DB34-04FA799EF75C}"/>
              </a:ext>
            </a:extLst>
          </p:cNvPr>
          <p:cNvSpPr/>
          <p:nvPr/>
        </p:nvSpPr>
        <p:spPr>
          <a:xfrm>
            <a:off x="1163782" y="2841258"/>
            <a:ext cx="1920240" cy="4655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050FCB-B01D-E149-D380-76E84E8DC72F}"/>
              </a:ext>
            </a:extLst>
          </p:cNvPr>
          <p:cNvSpPr/>
          <p:nvPr/>
        </p:nvSpPr>
        <p:spPr>
          <a:xfrm>
            <a:off x="1163782" y="3253265"/>
            <a:ext cx="1920240" cy="4655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879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9C57-D330-64B9-5244-08AAE52C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837E-A714-7106-AF8E-5FEAA14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Needham-Schroeder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7B3C8-A769-A755-7C15-1954EF358D4D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8DA54B0-3EF1-2DEF-5B65-08E237603372}"/>
                  </a:ext>
                </a:extLst>
              </p:cNvPr>
              <p:cNvSpPr txBox="1"/>
              <p:nvPr/>
            </p:nvSpPr>
            <p:spPr>
              <a:xfrm>
                <a:off x="951270" y="1883791"/>
                <a:ext cx="10824765" cy="747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Source Sans Pro"/>
                    <a:ea typeface="Source Sans Pro"/>
                  </a:rPr>
                  <a:t>How to generate a trace?</a:t>
                </a:r>
              </a:p>
              <a:p>
                <a:r>
                  <a:rPr lang="en-US" sz="2000" dirty="0">
                    <a:latin typeface="Source Sans Pro"/>
                    <a:ea typeface="Source Sans Pro"/>
                  </a:rPr>
                  <a:t>1.</a:t>
                </a:r>
                <a:r>
                  <a:rPr lang="en-US" sz="2000" b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𝐹𝑟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→{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𝑆𝑘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𝑃𝑘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𝑝𝑘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𝑠𝑘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𝑂𝑢𝑡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(⟨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𝐼𝑑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𝑝𝑘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𝑠𝑘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)⟩)}</m:t>
                    </m:r>
                  </m:oMath>
                </a14:m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8DA54B0-3EF1-2DEF-5B65-08E237603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70" y="1883791"/>
                <a:ext cx="10824765" cy="747512"/>
              </a:xfrm>
              <a:prstGeom prst="rect">
                <a:avLst/>
              </a:prstGeom>
              <a:blipFill>
                <a:blip r:embed="rId2"/>
                <a:stretch>
                  <a:fillRect l="-468" t="-5000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A15A2C-FB87-F720-7F75-D41659803363}"/>
                  </a:ext>
                </a:extLst>
              </p:cNvPr>
              <p:cNvSpPr txBox="1"/>
              <p:nvPr/>
            </p:nvSpPr>
            <p:spPr>
              <a:xfrm>
                <a:off x="951270" y="2508517"/>
                <a:ext cx="1192897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Source Sans Pro"/>
                    <a:ea typeface="Source Sans Pro"/>
                  </a:rPr>
                  <a:t>2.</a:t>
                </a:r>
                <a:r>
                  <a:rPr lang="en-US" sz="2000" b="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𝐹𝑟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!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𝑃𝑘</m:t>
                        </m:r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𝐼𝑑</m:t>
                            </m:r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,!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𝑃𝑘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𝑃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𝐵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→{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𝑆𝑡𝐴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1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 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𝑂𝑢𝑡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𝑎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_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𝑒𝑛𝑐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(⟨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⟩,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𝑃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))}</m:t>
                    </m:r>
                  </m:oMath>
                </a14:m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</a:p>
              <a:p>
                <a:r>
                  <a:rPr lang="en-US" sz="2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...</a:t>
                </a:r>
                <a:endParaRPr lang="en-US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A15A2C-FB87-F720-7F75-D41659803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70" y="2508517"/>
                <a:ext cx="11928972" cy="707886"/>
              </a:xfrm>
              <a:prstGeom prst="rect">
                <a:avLst/>
              </a:prstGeom>
              <a:blipFill>
                <a:blip r:embed="rId3"/>
                <a:stretch>
                  <a:fillRect l="-425" t="-526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496898-A997-FF84-72E4-1F2E3296F6D4}"/>
                  </a:ext>
                </a:extLst>
              </p:cNvPr>
              <p:cNvSpPr txBox="1"/>
              <p:nvPr/>
            </p:nvSpPr>
            <p:spPr>
              <a:xfrm>
                <a:off x="951270" y="3716689"/>
                <a:ext cx="108247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=∅</m:t>
                      </m:r>
                    </m:oMath>
                  </m:oMathPara>
                </a14:m>
                <a:endPara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496898-A997-FF84-72E4-1F2E3296F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70" y="3716689"/>
                <a:ext cx="10824765" cy="400110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79F57D-E4AD-1F5B-4743-AB0E8C742C25}"/>
                  </a:ext>
                </a:extLst>
              </p:cNvPr>
              <p:cNvSpPr txBox="1"/>
              <p:nvPr/>
            </p:nvSpPr>
            <p:spPr>
              <a:xfrm>
                <a:off x="951269" y="4008149"/>
                <a:ext cx="1082476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000" dirty="0">
                    <a:latin typeface="Source Sans Pro"/>
                    <a:ea typeface="Source Sans Pro"/>
                  </a:rPr>
                  <a:t>Apply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{}→{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𝐹𝑟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𝑠𝑘</m:t>
                    </m:r>
                    <m:r>
                      <a:rPr lang="en-US" sz="2000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)}</m:t>
                    </m:r>
                  </m:oMath>
                </a14:m>
                <a:endParaRPr lang="en-US" sz="2000" dirty="0">
                  <a:latin typeface="Source Sans Pro"/>
                  <a:ea typeface="Source Sans Pro"/>
                </a:endParaRPr>
              </a:p>
              <a:p>
                <a:pPr/>
                <a:endParaRPr lang="en-US" sz="20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79F57D-E4AD-1F5B-4743-AB0E8C742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9" y="4008149"/>
                <a:ext cx="10824765" cy="707886"/>
              </a:xfrm>
              <a:prstGeom prst="rect">
                <a:avLst/>
              </a:prstGeom>
              <a:blipFill>
                <a:blip r:embed="rId5"/>
                <a:stretch>
                  <a:fillRect l="-468" t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2A7428-59E9-E2BB-6B06-1801BF979530}"/>
                  </a:ext>
                </a:extLst>
              </p:cNvPr>
              <p:cNvSpPr txBox="1"/>
              <p:nvPr/>
            </p:nvSpPr>
            <p:spPr>
              <a:xfrm>
                <a:off x="951269" y="4326358"/>
                <a:ext cx="108247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={</m:t>
                      </m:r>
                      <m:r>
                        <a:rPr lang="en-US" sz="20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𝐹𝑟</m:t>
                      </m:r>
                      <m:r>
                        <a:rPr lang="en-US" sz="20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𝑠𝑘</m:t>
                      </m:r>
                      <m:r>
                        <a:rPr lang="en-US" sz="20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)}</m:t>
                      </m:r>
                    </m:oMath>
                  </m:oMathPara>
                </a14:m>
                <a:endParaRPr lang="en-US" sz="20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2A7428-59E9-E2BB-6B06-1801BF979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9" y="4326358"/>
                <a:ext cx="10824765" cy="400110"/>
              </a:xfrm>
              <a:prstGeom prst="rect">
                <a:avLst/>
              </a:prstGeom>
              <a:blipFill>
                <a:blip r:embed="rId6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BA78924-DA50-8B32-86E8-B9E6F9E1D18B}"/>
              </a:ext>
            </a:extLst>
          </p:cNvPr>
          <p:cNvSpPr txBox="1"/>
          <p:nvPr/>
        </p:nvSpPr>
        <p:spPr>
          <a:xfrm>
            <a:off x="951268" y="4623787"/>
            <a:ext cx="108247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2000" dirty="0">
                <a:latin typeface="Source Sans Pro"/>
                <a:ea typeface="Source Sans Pro"/>
              </a:rPr>
              <a:t>Apply rule 1</a:t>
            </a:r>
          </a:p>
          <a:p>
            <a:pPr/>
            <a:endParaRPr lang="en-US" sz="2000" dirty="0">
              <a:latin typeface="Source Sans Pro"/>
              <a:ea typeface="Source Sans Pr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844909-2A57-75C9-E353-1C4D178A4EFB}"/>
                  </a:ext>
                </a:extLst>
              </p:cNvPr>
              <p:cNvSpPr txBox="1"/>
              <p:nvPr/>
            </p:nvSpPr>
            <p:spPr>
              <a:xfrm>
                <a:off x="951268" y="4906345"/>
                <a:ext cx="10824765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=</m:t>
                      </m:r>
                      <m:r>
                        <a:rPr lang="en-US" sz="20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{</m:t>
                      </m:r>
                      <m:r>
                        <a:rPr lang="en-US" sz="20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𝑆𝑘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𝐼𝑑</m:t>
                          </m:r>
                          <m:r>
                            <a:rPr lang="en-US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  </m:t>
                          </m:r>
                          <m:r>
                            <a:rPr lang="en-US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𝑠𝑘</m:t>
                          </m:r>
                        </m:e>
                      </m:d>
                      <m:r>
                        <a:rPr lang="en-US" sz="20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a:rPr lang="en-US" sz="20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𝑃𝑘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𝐼𝑑</m:t>
                          </m:r>
                          <m:r>
                            <a:rPr lang="en-US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  </m:t>
                          </m:r>
                          <m:r>
                            <a:rPr lang="en-US" sz="2000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𝑝𝑘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𝑠𝑘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a:rPr lang="en-US" sz="20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𝑂𝑢𝑡</m:t>
                      </m:r>
                      <m:r>
                        <a:rPr lang="en-US" sz="20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(⟨</m:t>
                      </m:r>
                      <m:r>
                        <a:rPr lang="en-US" sz="20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𝐼𝑑</m:t>
                      </m:r>
                      <m:r>
                        <a:rPr lang="en-US" sz="20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a:rPr lang="en-US" sz="20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𝑝𝑘</m:t>
                      </m:r>
                      <m:r>
                        <a:rPr lang="en-US" sz="20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𝑠𝑘</m:t>
                      </m:r>
                      <m:r>
                        <a:rPr lang="en-US" sz="2000" i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)⟩)}</m:t>
                      </m:r>
                    </m:oMath>
                  </m:oMathPara>
                </a14:m>
                <a:endParaRPr lang="en-US" sz="2000" dirty="0"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844909-2A57-75C9-E353-1C4D178A4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8" y="4906345"/>
                <a:ext cx="10824765" cy="439736"/>
              </a:xfrm>
              <a:prstGeom prst="rect">
                <a:avLst/>
              </a:prstGeom>
              <a:blipFill>
                <a:blip r:embed="rId7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F6C1C2E-3BC6-4658-ECB9-4DB5150C6FD8}"/>
              </a:ext>
            </a:extLst>
          </p:cNvPr>
          <p:cNvSpPr txBox="1"/>
          <p:nvPr/>
        </p:nvSpPr>
        <p:spPr>
          <a:xfrm>
            <a:off x="951268" y="5211381"/>
            <a:ext cx="10824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sz="2000" dirty="0">
                <a:latin typeface="Source Sans Pro"/>
                <a:ea typeface="Source Sans Pro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247191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Properties in the Symbolic Model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F22A8-9E30-F8AE-5C33-7B0640938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Security properties can be partitioned into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trace properties</a:t>
            </a:r>
            <a:r>
              <a:rPr lang="en-US" dirty="0">
                <a:latin typeface="Source Sans Pro"/>
                <a:ea typeface="Source Sans Pro"/>
              </a:rPr>
              <a:t>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hyper properties</a:t>
            </a:r>
          </a:p>
          <a:p>
            <a:r>
              <a:rPr lang="en-US" dirty="0">
                <a:latin typeface="Source Sans Pro"/>
                <a:ea typeface="Source Sans Pro"/>
              </a:rPr>
              <a:t>Typical security properties are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safety </a:t>
            </a:r>
            <a:r>
              <a:rPr lang="en-US" dirty="0">
                <a:latin typeface="Source Sans Pro"/>
                <a:ea typeface="Source Sans Pro"/>
              </a:rPr>
              <a:t>(“something bad never happens”), not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liveness </a:t>
            </a:r>
            <a:r>
              <a:rPr lang="en-US" dirty="0">
                <a:latin typeface="Source Sans Pro"/>
                <a:ea typeface="Source Sans Pro"/>
              </a:rPr>
              <a:t>(“something good eventually happens”)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324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Properties in the Symbolic Model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dirty="0">
                    <a:latin typeface="Source Sans Pro"/>
                    <a:ea typeface="Source Sans Pro"/>
                  </a:rPr>
                  <a:t>Trace property specification language</a:t>
                </a:r>
              </a:p>
              <a:p>
                <a:pPr lvl="1"/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Order-sorted FOL</a:t>
                </a: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All predicates are of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𝐹𝑎𝑐𝑡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@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Brief overview of semantics (satisfaction relation and interesting case)</a:t>
                </a: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Can define a satisfaction relation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𝑡𝑟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Θ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𝜑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dirty="0">
                    <a:latin typeface="Source Sans Pro"/>
                    <a:ea typeface="Source Sans Pro"/>
                  </a:rPr>
                  <a:t>capturing whether trace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𝑡𝑟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 with valuation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Θ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 satisfies formula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𝜑</m:t>
                    </m:r>
                  </m:oMath>
                </a14:m>
                <a:endParaRPr lang="en-US" dirty="0">
                  <a:latin typeface="Source Sans Pro"/>
                  <a:ea typeface="Source Sans Pro"/>
                </a:endParaRPr>
              </a:p>
              <a:p>
                <a:pPr lvl="1"/>
                <a:r>
                  <a:rPr lang="en-US" dirty="0">
                    <a:latin typeface="Source Sans Pro"/>
                    <a:ea typeface="Source Sans Pro"/>
                  </a:rPr>
                  <a:t>E.g.,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𝑡𝑟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Θ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@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dirty="0">
                    <a:latin typeface="Source Sans Pro"/>
                    <a:ea typeface="Source Sans Pro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∈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𝑖𝑑𝑥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𝑡𝑟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r>
                  <a:rPr lang="en-US" dirty="0">
                    <a:latin typeface="Source Sans Pro"/>
                    <a:ea typeface="Source Sans Pro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,…,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2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Source Sans Pro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sSup>
                      <m:sSup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∈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#</m:t>
                        </m:r>
                      </m:sup>
                    </m:sSup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Θ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endParaRPr lang="en-US" b="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76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Properties in the Symbolic Model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Weak secrecy</a:t>
                </a:r>
                <a:r>
                  <a:rPr lang="en-US" dirty="0">
                    <a:latin typeface="Source Sans Pro"/>
                    <a:ea typeface="Source Sans Pro"/>
                  </a:rPr>
                  <a:t>: No secret term appears 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𝐾</m:t>
                    </m:r>
                  </m:oMath>
                </a14:m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∀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𝑆𝑒𝑐𝑟𝑒𝑡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@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⇒¬(∃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@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075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Properties in the Symbolic Model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20232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Non-injective agreement</a:t>
                </a:r>
                <a:r>
                  <a:rPr lang="en-US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: If principal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 received data item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 apparently from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, then previously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 sent data item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𝑑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 apparently to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</m:oMath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∀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𝐴𝑐𝑐𝑒𝑝𝑡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@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⇒(∃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𝑆𝑒𝑛𝑡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@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 &amp;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&lt;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20232"/>
              </a:xfrm>
              <a:blipFill>
                <a:blip r:embed="rId2"/>
                <a:stretch>
                  <a:fillRect l="-1206" t="-2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323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Properties in the Symbolic Model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20232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Injective agreement</a:t>
                </a:r>
                <a:r>
                  <a:rPr lang="en-US" dirty="0">
                    <a:latin typeface="Source Sans Pro"/>
                    <a:ea typeface="Source Sans Pro"/>
                  </a:rPr>
                  <a:t>: There is an injective mapping between data items received by principal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 apparently from principal</a:t>
                </a: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, and data items sent from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 apparently to principal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</m:oMath>
                </a14:m>
                <a:endParaRPr lang="en-US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∀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.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𝐴𝑐𝑐𝑒𝑝𝑡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@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⇒(∃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𝑗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.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𝑆𝑒𝑛𝑡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@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𝑗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&amp;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𝑗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&lt;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&amp;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¬(∃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𝐴𝑐𝑐𝑒𝑝𝑡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@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&amp;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20232"/>
              </a:xfrm>
              <a:blipFill>
                <a:blip r:embed="rId2"/>
                <a:stretch>
                  <a:fillRect l="-1206" t="-2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0A7454-35E9-C90B-7F6B-20F832B3C3E6}"/>
                  </a:ext>
                </a:extLst>
              </p:cNvPr>
              <p:cNvSpPr txBox="1"/>
              <p:nvPr/>
            </p:nvSpPr>
            <p:spPr>
              <a:xfrm>
                <a:off x="3348906" y="3644938"/>
                <a:ext cx="703420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endParaRPr lang="en-US" sz="2800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   No distinct accept with the same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</m:oMath>
                </a14:m>
                <a:endParaRPr lang="en-US" sz="2800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0A7454-35E9-C90B-7F6B-20F832B3C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906" y="3644938"/>
                <a:ext cx="7034201" cy="954107"/>
              </a:xfrm>
              <a:prstGeom prst="rect">
                <a:avLst/>
              </a:prstGeom>
              <a:blipFill>
                <a:blip r:embed="rId3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5D41B44E-DC59-1A98-41D0-8C1AF7F493A7}"/>
              </a:ext>
            </a:extLst>
          </p:cNvPr>
          <p:cNvSpPr/>
          <p:nvPr/>
        </p:nvSpPr>
        <p:spPr>
          <a:xfrm>
            <a:off x="2695018" y="3521228"/>
            <a:ext cx="6849374" cy="46582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405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Properties in the Symbolic Model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500669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Injective agreement</a:t>
                </a:r>
                <a:r>
                  <a:rPr lang="en-US" dirty="0">
                    <a:latin typeface="Source Sans Pro"/>
                    <a:ea typeface="Source Sans Pro"/>
                  </a:rPr>
                  <a:t>: There is an injective mapping between data items received by principal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 apparently from principal</a:t>
                </a: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, and data items sent from principal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</m:oMath>
                </a14:m>
                <a:r>
                  <a:rPr lang="en-US" dirty="0">
                    <a:latin typeface="Source Sans Pro"/>
                    <a:ea typeface="Source Sans Pro"/>
                  </a:rPr>
                  <a:t> apparently to principal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</m:oMath>
                </a14:m>
                <a:endParaRPr lang="en-US" dirty="0"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∀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𝑡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.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𝐴𝑐𝑐𝑒𝑝𝑡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@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⇒(∃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𝑗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.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𝑆𝑒𝑛𝑡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@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𝑗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 &amp;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𝑗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&lt;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𝑖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&amp;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¬(∃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𝐴𝑐𝑐𝑒𝑝𝑡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Source Sans Pro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@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&amp;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Source Sans Pro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𝑖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Source Sans Pro"/>
                    <a:ea typeface="Source Sans Pro"/>
                  </a:rPr>
                  <a:t>    Too strong?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500669"/>
              </a:xfrm>
              <a:blipFill>
                <a:blip r:embed="rId2"/>
                <a:stretch>
                  <a:fillRect l="-1206" t="-2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6E1A8-04A0-434B-6CBD-45DB89602C9A}"/>
              </a:ext>
            </a:extLst>
          </p:cNvPr>
          <p:cNvSpPr/>
          <p:nvPr/>
        </p:nvSpPr>
        <p:spPr>
          <a:xfrm>
            <a:off x="2695018" y="3521228"/>
            <a:ext cx="6849374" cy="46582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4750C9E-858D-B1DA-F78E-A96DAA1C61EA}"/>
              </a:ext>
            </a:extLst>
          </p:cNvPr>
          <p:cNvGrpSpPr/>
          <p:nvPr/>
        </p:nvGrpSpPr>
        <p:grpSpPr>
          <a:xfrm>
            <a:off x="4062519" y="4419020"/>
            <a:ext cx="3366645" cy="2316606"/>
            <a:chOff x="4062519" y="4419020"/>
            <a:chExt cx="3366645" cy="231660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729CB89-C10D-DB5A-952F-FB5A0A1C44FA}"/>
                </a:ext>
              </a:extLst>
            </p:cNvPr>
            <p:cNvSpPr txBox="1"/>
            <p:nvPr/>
          </p:nvSpPr>
          <p:spPr>
            <a:xfrm>
              <a:off x="5529534" y="636629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375BFF0-7EEE-2BF5-3E86-8FA4A781DE2D}"/>
                </a:ext>
              </a:extLst>
            </p:cNvPr>
            <p:cNvSpPr/>
            <p:nvPr/>
          </p:nvSpPr>
          <p:spPr>
            <a:xfrm>
              <a:off x="4062519" y="4856671"/>
              <a:ext cx="1236274" cy="1636203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2B0AF2C-8E5C-07D2-F892-F0A53C2BF61C}"/>
                </a:ext>
              </a:extLst>
            </p:cNvPr>
            <p:cNvSpPr/>
            <p:nvPr/>
          </p:nvSpPr>
          <p:spPr>
            <a:xfrm>
              <a:off x="5949353" y="4856670"/>
              <a:ext cx="1236274" cy="1636203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21C949-3379-22B7-A74D-36965B406CB0}"/>
                </a:ext>
              </a:extLst>
            </p:cNvPr>
            <p:cNvSpPr txBox="1"/>
            <p:nvPr/>
          </p:nvSpPr>
          <p:spPr>
            <a:xfrm>
              <a:off x="4140283" y="4419022"/>
              <a:ext cx="10807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Source Sans Pro"/>
                  <a:ea typeface="Source Sans Pro"/>
                </a:rPr>
                <a:t>Sent by 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DECD5AD-35D3-7A88-ECED-33BA0CEDC684}"/>
                </a:ext>
              </a:extLst>
            </p:cNvPr>
            <p:cNvSpPr txBox="1"/>
            <p:nvPr/>
          </p:nvSpPr>
          <p:spPr>
            <a:xfrm>
              <a:off x="5880342" y="4419020"/>
              <a:ext cx="1548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Source Sans Pro"/>
                  <a:ea typeface="Source Sans Pro"/>
                </a:rPr>
                <a:t>Accepted by B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2B045D3-7D10-27A7-3748-2C6CB4E9C425}"/>
                </a:ext>
              </a:extLst>
            </p:cNvPr>
            <p:cNvSpPr/>
            <p:nvPr/>
          </p:nvSpPr>
          <p:spPr>
            <a:xfrm>
              <a:off x="4600332" y="5181790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B5994BA-563D-BA9E-669A-7777719FD2A0}"/>
                </a:ext>
              </a:extLst>
            </p:cNvPr>
            <p:cNvSpPr/>
            <p:nvPr/>
          </p:nvSpPr>
          <p:spPr>
            <a:xfrm>
              <a:off x="4685886" y="5851709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726D391-1B60-BAD3-A5C6-F3CE22CE8580}"/>
                </a:ext>
              </a:extLst>
            </p:cNvPr>
            <p:cNvSpPr/>
            <p:nvPr/>
          </p:nvSpPr>
          <p:spPr>
            <a:xfrm>
              <a:off x="6288234" y="5245971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BDF3B72-4F9F-5137-55DD-CBF66277DB5B}"/>
                </a:ext>
              </a:extLst>
            </p:cNvPr>
            <p:cNvSpPr/>
            <p:nvPr/>
          </p:nvSpPr>
          <p:spPr>
            <a:xfrm>
              <a:off x="6368557" y="5775182"/>
              <a:ext cx="80323" cy="803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3DAC5EA-6609-CA17-4E7F-09770762D15D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>
              <a:off x="4680655" y="5221952"/>
              <a:ext cx="1607579" cy="641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A238C3F-FB10-41AF-F1A6-AC4C6D0342E0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 flipV="1">
              <a:off x="4766209" y="5824307"/>
              <a:ext cx="1610264" cy="675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816AF4-0B82-E4CD-1D71-F1B0D9ECD9A4}"/>
                    </a:ext>
                  </a:extLst>
                </p:cNvPr>
                <p:cNvSpPr txBox="1"/>
                <p:nvPr/>
              </p:nvSpPr>
              <p:spPr>
                <a:xfrm>
                  <a:off x="4287426" y="5035655"/>
                  <a:ext cx="3715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F816AF4-0B82-E4CD-1D71-F1B0D9ECD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7426" y="5035655"/>
                  <a:ext cx="37151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3D59B5C-44E1-93A9-CF7E-7FB96A8711E9}"/>
                    </a:ext>
                  </a:extLst>
                </p:cNvPr>
                <p:cNvSpPr txBox="1"/>
                <p:nvPr/>
              </p:nvSpPr>
              <p:spPr>
                <a:xfrm>
                  <a:off x="6389526" y="5617810"/>
                  <a:ext cx="3715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3D59B5C-44E1-93A9-CF7E-7FB96A871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9526" y="5617810"/>
                  <a:ext cx="37151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69AC445-B558-D9B4-C92E-29573E3D96EC}"/>
                    </a:ext>
                  </a:extLst>
                </p:cNvPr>
                <p:cNvSpPr txBox="1"/>
                <p:nvPr/>
              </p:nvSpPr>
              <p:spPr>
                <a:xfrm>
                  <a:off x="4394697" y="5709787"/>
                  <a:ext cx="3715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69AC445-B558-D9B4-C92E-29573E3D9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4697" y="5709787"/>
                  <a:ext cx="37151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D3A10F4-3E4E-4D48-E949-2504BE5C3B89}"/>
                    </a:ext>
                  </a:extLst>
                </p:cNvPr>
                <p:cNvSpPr txBox="1"/>
                <p:nvPr/>
              </p:nvSpPr>
              <p:spPr>
                <a:xfrm>
                  <a:off x="6314377" y="5052574"/>
                  <a:ext cx="3715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𝑑</m:t>
                        </m:r>
                      </m:oMath>
                    </m:oMathPara>
                  </a14:m>
                  <a:endParaRPr lang="en-US" sz="1800" dirty="0">
                    <a:latin typeface="Source Sans Pro"/>
                    <a:ea typeface="Source Sans Pro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D3A10F4-3E4E-4D48-E949-2504BE5C3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377" y="5052574"/>
                  <a:ext cx="37151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672C234E-DED9-8595-2E5F-228CA0081C83}"/>
              </a:ext>
            </a:extLst>
          </p:cNvPr>
          <p:cNvSpPr txBox="1"/>
          <p:nvPr/>
        </p:nvSpPr>
        <p:spPr>
          <a:xfrm>
            <a:off x="9340694" y="63312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3484B50-4B0D-0616-0C60-9141CB1F7BC2}"/>
              </a:ext>
            </a:extLst>
          </p:cNvPr>
          <p:cNvSpPr/>
          <p:nvPr/>
        </p:nvSpPr>
        <p:spPr>
          <a:xfrm>
            <a:off x="7873679" y="4821625"/>
            <a:ext cx="1236274" cy="1636203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B471C69-C918-DCFC-E9A3-2E91A25DEC3D}"/>
              </a:ext>
            </a:extLst>
          </p:cNvPr>
          <p:cNvSpPr/>
          <p:nvPr/>
        </p:nvSpPr>
        <p:spPr>
          <a:xfrm>
            <a:off x="9760513" y="4821624"/>
            <a:ext cx="1236274" cy="1636203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582B76-80D0-C233-A48D-FDEF0CF9A23C}"/>
              </a:ext>
            </a:extLst>
          </p:cNvPr>
          <p:cNvSpPr txBox="1"/>
          <p:nvPr/>
        </p:nvSpPr>
        <p:spPr>
          <a:xfrm>
            <a:off x="7951443" y="4383976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Source Sans Pro"/>
                <a:ea typeface="Source Sans Pro"/>
              </a:rPr>
              <a:t>Sent by 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17C6F7-E02E-D396-6F48-EA3FE8518D99}"/>
              </a:ext>
            </a:extLst>
          </p:cNvPr>
          <p:cNvSpPr txBox="1"/>
          <p:nvPr/>
        </p:nvSpPr>
        <p:spPr>
          <a:xfrm>
            <a:off x="9691502" y="4383974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Source Sans Pro"/>
                <a:ea typeface="Source Sans Pro"/>
              </a:rPr>
              <a:t>Accepted by B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EACB7A5-B8FF-3E77-D102-5CD81BA1C9C8}"/>
              </a:ext>
            </a:extLst>
          </p:cNvPr>
          <p:cNvSpPr/>
          <p:nvPr/>
        </p:nvSpPr>
        <p:spPr>
          <a:xfrm>
            <a:off x="8411492" y="5146744"/>
            <a:ext cx="80323" cy="803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A6471FD-BB31-5ED2-F36D-6DA33E783052}"/>
              </a:ext>
            </a:extLst>
          </p:cNvPr>
          <p:cNvSpPr/>
          <p:nvPr/>
        </p:nvSpPr>
        <p:spPr>
          <a:xfrm>
            <a:off x="9386668" y="5789099"/>
            <a:ext cx="80323" cy="803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306535D-BD4E-5AA9-20ED-7014F5E1B2B1}"/>
              </a:ext>
            </a:extLst>
          </p:cNvPr>
          <p:cNvSpPr/>
          <p:nvPr/>
        </p:nvSpPr>
        <p:spPr>
          <a:xfrm>
            <a:off x="10099394" y="5210925"/>
            <a:ext cx="80323" cy="803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3CA975F-C093-5B06-4FF7-3936D02BD3A0}"/>
              </a:ext>
            </a:extLst>
          </p:cNvPr>
          <p:cNvSpPr/>
          <p:nvPr/>
        </p:nvSpPr>
        <p:spPr>
          <a:xfrm>
            <a:off x="10179717" y="5740136"/>
            <a:ext cx="80323" cy="8032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8753F42-680F-2EE0-AA73-61AC7E3D7335}"/>
              </a:ext>
            </a:extLst>
          </p:cNvPr>
          <p:cNvCxnSpPr>
            <a:cxnSpLocks/>
            <a:stCxn id="65" idx="6"/>
            <a:endCxn id="67" idx="2"/>
          </p:cNvCxnSpPr>
          <p:nvPr/>
        </p:nvCxnSpPr>
        <p:spPr>
          <a:xfrm>
            <a:off x="8491815" y="5186906"/>
            <a:ext cx="1607579" cy="64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9ED33E4-E40E-069B-508B-0D50B2D71545}"/>
              </a:ext>
            </a:extLst>
          </p:cNvPr>
          <p:cNvCxnSpPr>
            <a:cxnSpLocks/>
          </p:cNvCxnSpPr>
          <p:nvPr/>
        </p:nvCxnSpPr>
        <p:spPr>
          <a:xfrm flipV="1">
            <a:off x="9442131" y="5789261"/>
            <a:ext cx="745502" cy="35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993B2FC-9DC7-8A8B-7FD4-F458536DAEE2}"/>
                  </a:ext>
                </a:extLst>
              </p:cNvPr>
              <p:cNvSpPr txBox="1"/>
              <p:nvPr/>
            </p:nvSpPr>
            <p:spPr>
              <a:xfrm>
                <a:off x="8098586" y="5000609"/>
                <a:ext cx="371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𝑑</m:t>
                      </m:r>
                    </m:oMath>
                  </m:oMathPara>
                </a14:m>
                <a:endParaRPr lang="en-US" sz="18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993B2FC-9DC7-8A8B-7FD4-F458536DA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586" y="5000609"/>
                <a:ext cx="37151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3A1B24C-2D32-EDF4-364E-FC6A0792F681}"/>
                  </a:ext>
                </a:extLst>
              </p:cNvPr>
              <p:cNvSpPr txBox="1"/>
              <p:nvPr/>
            </p:nvSpPr>
            <p:spPr>
              <a:xfrm>
                <a:off x="10200686" y="5582764"/>
                <a:ext cx="371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𝑑</m:t>
                      </m:r>
                    </m:oMath>
                  </m:oMathPara>
                </a14:m>
                <a:endParaRPr lang="en-US" sz="18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3A1B24C-2D32-EDF4-364E-FC6A0792F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686" y="5582764"/>
                <a:ext cx="37151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7303BA-ED74-2C0F-D504-B2B02E67800E}"/>
                  </a:ext>
                </a:extLst>
              </p:cNvPr>
              <p:cNvSpPr txBox="1"/>
              <p:nvPr/>
            </p:nvSpPr>
            <p:spPr>
              <a:xfrm>
                <a:off x="9067675" y="5604595"/>
                <a:ext cx="371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𝑑</m:t>
                      </m:r>
                    </m:oMath>
                  </m:oMathPara>
                </a14:m>
                <a:endParaRPr lang="en-US" sz="18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87303BA-ED74-2C0F-D504-B2B02E678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675" y="5604595"/>
                <a:ext cx="37151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7F0681C-C9F9-C94E-AFE8-02A1A677376D}"/>
                  </a:ext>
                </a:extLst>
              </p:cNvPr>
              <p:cNvSpPr txBox="1"/>
              <p:nvPr/>
            </p:nvSpPr>
            <p:spPr>
              <a:xfrm>
                <a:off x="10125537" y="5017528"/>
                <a:ext cx="3715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Source Sans Pro"/>
                        </a:rPr>
                        <m:t>𝑑</m:t>
                      </m:r>
                    </m:oMath>
                  </m:oMathPara>
                </a14:m>
                <a:endParaRPr lang="en-US" sz="1800" dirty="0">
                  <a:latin typeface="Source Sans Pro"/>
                  <a:ea typeface="Source Sans Pro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7F0681C-C9F9-C94E-AFE8-02A1A6773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5537" y="5017528"/>
                <a:ext cx="37151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8" name="Picture 77" descr="A red smiley with horns and yellow eyes&#10;&#10;Description automatically generated">
            <a:extLst>
              <a:ext uri="{FF2B5EF4-FFF2-40B4-BE49-F238E27FC236}">
                <a16:creationId xmlns:a16="http://schemas.microsoft.com/office/drawing/2014/main" id="{7DF1FC6A-C774-C59B-D510-2019B93F78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314" y="5948061"/>
            <a:ext cx="373030" cy="32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874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17E6-AB9A-0DB8-505E-90D61058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9264-82F7-B022-27F1-66F6F0CE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Automated Property Satisfaction/Violation</a:t>
            </a:r>
            <a:endParaRPr lang="en-US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500669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Given a rewrite system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 and a 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𝜑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, how to tell if some trace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𝑅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 violates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𝜑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Source Sans Pro"/>
                    <a:ea typeface="Source Sans Pro"/>
                  </a:rPr>
                  <a:t>?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000"/>
                  </a:solidFill>
                  <a:latin typeface="Source Sans Pro"/>
                  <a:ea typeface="Source Sans Pr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EF22A8-9E30-F8AE-5C33-7B0640938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500669"/>
              </a:xfrm>
              <a:blipFill>
                <a:blip r:embed="rId2"/>
                <a:stretch>
                  <a:fillRect l="-1206" t="-2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61C0C6A-E108-6A9E-3327-C0619C7585C0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149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250-B482-01C5-E5D3-AF89145F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B134-327B-0941-EFA2-626FD1C1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Formalizing Security Properties in the Symbolic Model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DEF77-C32D-B9D1-FD95-218B012B5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Diff equivalence</a:t>
            </a:r>
            <a:r>
              <a:rPr lang="en-US" dirty="0">
                <a:latin typeface="Source Sans Pro"/>
                <a:ea typeface="Source Sans Pro"/>
              </a:rPr>
              <a:t>: Two protocols are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diff equivalent </a:t>
            </a:r>
            <a:r>
              <a:rPr lang="en-US" dirty="0">
                <a:latin typeface="Source Sans Pro"/>
                <a:ea typeface="Source Sans Pro"/>
              </a:rPr>
              <a:t>if …</a:t>
            </a:r>
            <a:endParaRPr lang="en-US" dirty="0">
              <a:latin typeface="Aptos" panose="02110004020202020204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E1111-4D49-F123-B866-CAE0AA82D56B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491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35E0-BEEA-EB4D-28A6-402771B8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0EAD-0D27-1C7F-A0A8-F961B406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88B1-2267-9A92-9381-94A9E59DC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latin typeface="Source Sans Pro"/>
                <a:ea typeface="Source Sans Pro"/>
              </a:rPr>
              <a:t>Objective</a:t>
            </a:r>
          </a:p>
          <a:p>
            <a:r>
              <a:rPr lang="en-US" dirty="0">
                <a:latin typeface="Source Sans Pro"/>
                <a:ea typeface="Source Sans Pro"/>
              </a:rPr>
              <a:t>Cryptographic protocol verification background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Threat models and their relationships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Formalizing security protocols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Formalizing security properties</a:t>
            </a:r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Breaking, fixing, and breaking Needham-Schroeder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Key compromise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Type confusion!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expressive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tractable</a:t>
            </a:r>
          </a:p>
          <a:p>
            <a:r>
              <a:rPr lang="en-US" dirty="0">
                <a:latin typeface="Source Sans Pro"/>
                <a:ea typeface="Source Sans Pro"/>
              </a:rPr>
              <a:t>Discussion &amp; Conclusion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013BD-B792-7885-524D-3E34C6C84D3E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285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250-B482-01C5-E5D3-AF89145F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B134-327B-0941-EFA2-626FD1C1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Needham-Schroeder Public Key Protocol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E1111-4D49-F123-B866-CAE0AA82D56B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C5273-9AFC-BCAC-886F-652F4C391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" t="451" r="1260" b="301"/>
          <a:stretch>
            <a:fillRect/>
          </a:stretch>
        </p:blipFill>
        <p:spPr>
          <a:xfrm>
            <a:off x="951263" y="1921147"/>
            <a:ext cx="7905563" cy="320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73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250-B482-01C5-E5D3-AF89145F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B134-327B-0941-EFA2-626FD1C1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Needham-Schroeder Public Key Protocol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E1111-4D49-F123-B866-CAE0AA82D56B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C5273-9AFC-BCAC-886F-652F4C391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" t="451" r="1260" b="301"/>
          <a:stretch>
            <a:fillRect/>
          </a:stretch>
        </p:blipFill>
        <p:spPr>
          <a:xfrm>
            <a:off x="951263" y="1921147"/>
            <a:ext cx="7905563" cy="32032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A37253-F224-73AA-F3B4-3C32957D214F}"/>
              </a:ext>
            </a:extLst>
          </p:cNvPr>
          <p:cNvSpPr/>
          <p:nvPr/>
        </p:nvSpPr>
        <p:spPr>
          <a:xfrm>
            <a:off x="1313411" y="3158836"/>
            <a:ext cx="6616931" cy="4655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065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250-B482-01C5-E5D3-AF89145F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B134-327B-0941-EFA2-626FD1C1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Needham-Schroeder Public Key Protocol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E1111-4D49-F123-B866-CAE0AA82D56B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C5273-9AFC-BCAC-886F-652F4C391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" t="451" r="1260" b="301"/>
          <a:stretch>
            <a:fillRect/>
          </a:stretch>
        </p:blipFill>
        <p:spPr>
          <a:xfrm>
            <a:off x="951263" y="1921147"/>
            <a:ext cx="7905563" cy="32032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BE8B3E3-12A8-E950-F70E-303225F743E0}"/>
              </a:ext>
            </a:extLst>
          </p:cNvPr>
          <p:cNvSpPr/>
          <p:nvPr/>
        </p:nvSpPr>
        <p:spPr>
          <a:xfrm>
            <a:off x="1313411" y="3715788"/>
            <a:ext cx="7697585" cy="4655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973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250-B482-01C5-E5D3-AF89145F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B134-327B-0941-EFA2-626FD1C1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Needham-Schroeder Public Key Protocol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E1111-4D49-F123-B866-CAE0AA82D56B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C5273-9AFC-BCAC-886F-652F4C391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0" t="451" r="1260" b="301"/>
          <a:stretch>
            <a:fillRect/>
          </a:stretch>
        </p:blipFill>
        <p:spPr>
          <a:xfrm>
            <a:off x="951263" y="1921147"/>
            <a:ext cx="7905563" cy="32032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CBB74D3-D865-0CBA-495A-B88EB1554617}"/>
              </a:ext>
            </a:extLst>
          </p:cNvPr>
          <p:cNvSpPr/>
          <p:nvPr/>
        </p:nvSpPr>
        <p:spPr>
          <a:xfrm>
            <a:off x="1288473" y="4322617"/>
            <a:ext cx="6276109" cy="4655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10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First Attack on Needham-Schroeder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3CA980-B60C-BF94-9DD3-7F4A315C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1" b="133"/>
          <a:stretch>
            <a:fillRect/>
          </a:stretch>
        </p:blipFill>
        <p:spPr>
          <a:xfrm>
            <a:off x="2966489" y="2374490"/>
            <a:ext cx="7497507" cy="34098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52E5C6E-BCA9-2F33-5E43-B52735B19EFF}"/>
              </a:ext>
            </a:extLst>
          </p:cNvPr>
          <p:cNvSpPr/>
          <p:nvPr/>
        </p:nvSpPr>
        <p:spPr>
          <a:xfrm>
            <a:off x="3412192" y="4127540"/>
            <a:ext cx="3683479" cy="905773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0CA6EA-F05D-52D5-D6F8-D280300E7F90}"/>
                  </a:ext>
                </a:extLst>
              </p:cNvPr>
              <p:cNvSpPr txBox="1"/>
              <p:nvPr/>
            </p:nvSpPr>
            <p:spPr>
              <a:xfrm>
                <a:off x="838200" y="3539959"/>
                <a:ext cx="24609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Source Sans Pro"/>
                    <a:ea typeface="Source Sans Pro"/>
                  </a:rPr>
                  <a:t>Should be noticed by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</m:oMath>
                </a14:m>
                <a:r>
                  <a:rPr lang="en-US" sz="1800" dirty="0">
                    <a:latin typeface="Source Sans Pro"/>
                    <a:ea typeface="Source Sans Pro"/>
                  </a:rPr>
                  <a:t>!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0CA6EA-F05D-52D5-D6F8-D280300E7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39959"/>
                <a:ext cx="2460930" cy="369332"/>
              </a:xfrm>
              <a:prstGeom prst="rect">
                <a:avLst/>
              </a:prstGeom>
              <a:blipFill>
                <a:blip r:embed="rId4"/>
                <a:stretch>
                  <a:fillRect l="-2577" t="-6667" r="-206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604BFF-A9EF-FD0A-790A-37B67C57C4E5}"/>
                  </a:ext>
                </a:extLst>
              </p:cNvPr>
              <p:cNvSpPr txBox="1"/>
              <p:nvPr/>
            </p:nvSpPr>
            <p:spPr>
              <a:xfrm>
                <a:off x="838200" y="3991801"/>
                <a:ext cx="29589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Source Sans Pro"/>
                      </a:rPr>
                      <m:t>𝐼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Source Sans Pro"/>
                      </a:rPr>
                      <m:t> </m:t>
                    </m:r>
                  </m:oMath>
                </a14:m>
                <a:r>
                  <a:rPr lang="en-US" sz="1800" dirty="0">
                    <a:latin typeface="Source Sans Pro"/>
                    <a:ea typeface="Source Sans Pro"/>
                  </a:rPr>
                  <a:t>cannot decrypt, only forward…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604BFF-A9EF-FD0A-790A-37B67C57C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91801"/>
                <a:ext cx="2958959" cy="646331"/>
              </a:xfrm>
              <a:prstGeom prst="rect">
                <a:avLst/>
              </a:prstGeom>
              <a:blipFill>
                <a:blip r:embed="rId5"/>
                <a:stretch>
                  <a:fillRect l="-2137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1F0314-B726-C865-6B5C-8F6BF8FF6D94}"/>
                  </a:ext>
                </a:extLst>
              </p:cNvPr>
              <p:cNvSpPr txBox="1"/>
              <p:nvPr/>
            </p:nvSpPr>
            <p:spPr>
              <a:xfrm>
                <a:off x="838200" y="4686876"/>
                <a:ext cx="29589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latin typeface="Source Sans Pro"/>
                    <a:ea typeface="Source Sans Pro"/>
                  </a:rPr>
                  <a:t>The message should be bound to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</m:oMath>
                </a14:m>
                <a:r>
                  <a:rPr lang="en-US" sz="1800" dirty="0">
                    <a:latin typeface="Source Sans Pro"/>
                    <a:ea typeface="Source Sans Pro"/>
                  </a:rPr>
                  <a:t>’s identity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1F0314-B726-C865-6B5C-8F6BF8FF6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686876"/>
                <a:ext cx="2958959" cy="646331"/>
              </a:xfrm>
              <a:prstGeom prst="rect">
                <a:avLst/>
              </a:prstGeom>
              <a:blipFill>
                <a:blip r:embed="rId6"/>
                <a:stretch>
                  <a:fillRect l="-2137" t="-576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922CB7-FD51-B189-3F23-0A5A3B06FE29}"/>
                  </a:ext>
                </a:extLst>
              </p:cNvPr>
              <p:cNvSpPr txBox="1"/>
              <p:nvPr/>
            </p:nvSpPr>
            <p:spPr>
              <a:xfrm>
                <a:off x="838200" y="5394893"/>
                <a:ext cx="295895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latin typeface="Source Sans Pro"/>
                    <a:ea typeface="Source Sans Pro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⟨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⟩</m:t>
                    </m:r>
                  </m:oMath>
                </a14:m>
                <a:r>
                  <a:rPr lang="en-US" sz="1800" dirty="0">
                    <a:latin typeface="Source Sans Pro"/>
                    <a:ea typeface="Source Sans Pro"/>
                  </a:rPr>
                  <a:t> prevents the attack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922CB7-FD51-B189-3F23-0A5A3B06F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94893"/>
                <a:ext cx="2958959" cy="646331"/>
              </a:xfrm>
              <a:prstGeom prst="rect">
                <a:avLst/>
              </a:prstGeom>
              <a:blipFill>
                <a:blip r:embed="rId7"/>
                <a:stretch>
                  <a:fillRect l="-2137"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AAC462-8709-2CAB-D1F7-BCC4A3A87B09}"/>
                  </a:ext>
                </a:extLst>
              </p:cNvPr>
              <p:cNvSpPr txBox="1"/>
              <p:nvPr/>
            </p:nvSpPr>
            <p:spPr>
              <a:xfrm>
                <a:off x="951263" y="1728137"/>
                <a:ext cx="35658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𝑃𝑘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AAC462-8709-2CAB-D1F7-BCC4A3A87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3" y="1728137"/>
                <a:ext cx="3565848" cy="369332"/>
              </a:xfrm>
              <a:prstGeom prst="rect">
                <a:avLst/>
              </a:prstGeom>
              <a:blipFill>
                <a:blip r:embed="rId8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8046E1-19AE-DB7A-2A78-96F46482540C}"/>
                  </a:ext>
                </a:extLst>
              </p:cNvPr>
              <p:cNvSpPr txBox="1"/>
              <p:nvPr/>
            </p:nvSpPr>
            <p:spPr>
              <a:xfrm>
                <a:off x="4517110" y="1728137"/>
                <a:ext cx="36416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𝑃𝑘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8046E1-19AE-DB7A-2A78-96F464825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110" y="1728137"/>
                <a:ext cx="3641638" cy="369332"/>
              </a:xfrm>
              <a:prstGeom prst="rect">
                <a:avLst/>
              </a:prstGeom>
              <a:blipFill>
                <a:blip r:embed="rId9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DF193A4-F59C-AB97-8066-99AC76F93C45}"/>
                  </a:ext>
                </a:extLst>
              </p:cNvPr>
              <p:cNvSpPr txBox="1"/>
              <p:nvPr/>
            </p:nvSpPr>
            <p:spPr>
              <a:xfrm>
                <a:off x="8265864" y="1728137"/>
                <a:ext cx="3181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𝑃𝑘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DF193A4-F59C-AB97-8066-99AC76F93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5864" y="1728137"/>
                <a:ext cx="3181127" cy="369332"/>
              </a:xfrm>
              <a:prstGeom prst="rect">
                <a:avLst/>
              </a:prstGeom>
              <a:blipFill>
                <a:blip r:embed="rId10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1423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First Attack on Needham-Schroeder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3CA980-B60C-BF94-9DD3-7F4A315CF5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1" b="133"/>
          <a:stretch>
            <a:fillRect/>
          </a:stretch>
        </p:blipFill>
        <p:spPr>
          <a:xfrm>
            <a:off x="661241" y="3259762"/>
            <a:ext cx="7497507" cy="34098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08582E-01FA-FD95-F368-79D76573B791}"/>
                  </a:ext>
                </a:extLst>
              </p:cNvPr>
              <p:cNvSpPr txBox="1"/>
              <p:nvPr/>
            </p:nvSpPr>
            <p:spPr>
              <a:xfrm>
                <a:off x="951263" y="1728137"/>
                <a:ext cx="35658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𝑃𝑘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08582E-01FA-FD95-F368-79D76573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3" y="1728137"/>
                <a:ext cx="3565848" cy="369332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685A1B-0335-A39A-55B3-80572169DC60}"/>
                  </a:ext>
                </a:extLst>
              </p:cNvPr>
              <p:cNvSpPr txBox="1"/>
              <p:nvPr/>
            </p:nvSpPr>
            <p:spPr>
              <a:xfrm>
                <a:off x="4517110" y="1728137"/>
                <a:ext cx="36416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𝑃𝑘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685A1B-0335-A39A-55B3-80572169D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110" y="1728137"/>
                <a:ext cx="3641638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B88C85-915A-1C44-215B-4B09A568FE38}"/>
                  </a:ext>
                </a:extLst>
              </p:cNvPr>
              <p:cNvSpPr txBox="1"/>
              <p:nvPr/>
            </p:nvSpPr>
            <p:spPr>
              <a:xfrm>
                <a:off x="8265864" y="1728137"/>
                <a:ext cx="3181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𝑃𝑘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B88C85-915A-1C44-215B-4B09A568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5864" y="1728137"/>
                <a:ext cx="3181127" cy="369332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27E6EC1-09CD-A36C-6AFE-E7FB8F51DBC4}"/>
              </a:ext>
            </a:extLst>
          </p:cNvPr>
          <p:cNvSpPr txBox="1"/>
          <p:nvPr/>
        </p:nvSpPr>
        <p:spPr>
          <a:xfrm>
            <a:off x="951263" y="2194957"/>
            <a:ext cx="5969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Source Sans Pro"/>
                <a:ea typeface="Source Sans Pro"/>
              </a:rPr>
              <a:t>In our formalization, the attack does not actually work yet…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3A5855-7DA2-0722-5BF9-BFAA2C865C2E}"/>
                  </a:ext>
                </a:extLst>
              </p:cNvPr>
              <p:cNvSpPr txBox="1"/>
              <p:nvPr/>
            </p:nvSpPr>
            <p:spPr>
              <a:xfrm>
                <a:off x="951263" y="2496734"/>
                <a:ext cx="10824765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𝐹𝑟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→{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𝑆𝑘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𝑃𝑘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𝑝𝑘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2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Source Sans Pro"/>
                              </a:rPr>
                              <m:t>𝑠𝑘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𝑂𝑢𝑡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𝐼𝑑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𝑝𝑘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𝑠𝑘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)⟩)}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3A5855-7DA2-0722-5BF9-BFAA2C865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3" y="2496734"/>
                <a:ext cx="10824765" cy="404983"/>
              </a:xfrm>
              <a:prstGeom prst="rect">
                <a:avLst/>
              </a:prstGeom>
              <a:blipFill>
                <a:blip r:embed="rId7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88F2F7-C625-5D4E-9799-791CF2AC1EE8}"/>
                  </a:ext>
                </a:extLst>
              </p:cNvPr>
              <p:cNvSpPr txBox="1"/>
              <p:nvPr/>
            </p:nvSpPr>
            <p:spPr>
              <a:xfrm>
                <a:off x="963207" y="2823807"/>
                <a:ext cx="10824765" cy="381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𝑆𝑘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𝑠𝑘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{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𝑅𝑒𝑣𝑒𝑎𝑙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𝐼𝑑</m:t>
                        </m:r>
                        <m:r>
                          <a:rPr lang="en-US" b="0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Source Sans Pro"/>
                          </a:rPr>
                          <m:t>)}</m:t>
                        </m:r>
                      </m:sup>
                    </m:sSup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{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𝑂𝑢𝑡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(⟨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𝐼𝑑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𝑠𝑘</m:t>
                    </m:r>
                    <m:r>
                      <a:rPr lang="en-US" b="0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⟩)}</m:t>
                    </m:r>
                  </m:oMath>
                </a14:m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Source Sans Pro"/>
                    <a:ea typeface="Source Sans Pro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88F2F7-C625-5D4E-9799-791CF2AC1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207" y="2823807"/>
                <a:ext cx="10824765" cy="381130"/>
              </a:xfrm>
              <a:prstGeom prst="rect">
                <a:avLst/>
              </a:prstGeom>
              <a:blipFill>
                <a:blip r:embed="rId8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FCB3996-4289-4A3D-1814-CFBDE611F51C}"/>
              </a:ext>
            </a:extLst>
          </p:cNvPr>
          <p:cNvSpPr/>
          <p:nvPr/>
        </p:nvSpPr>
        <p:spPr>
          <a:xfrm>
            <a:off x="2784764" y="4555375"/>
            <a:ext cx="192024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4A62F2-11F4-1103-2F4B-155570F7CB33}"/>
                  </a:ext>
                </a:extLst>
              </p:cNvPr>
              <p:cNvSpPr txBox="1"/>
              <p:nvPr/>
            </p:nvSpPr>
            <p:spPr>
              <a:xfrm>
                <a:off x="5395194" y="3471007"/>
                <a:ext cx="40034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Source Sans Pro"/>
                    <a:ea typeface="Source Sans Pro"/>
                  </a:rPr>
                  <a:t>Key compromise of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𝐴</m:t>
                    </m:r>
                  </m:oMath>
                </a14:m>
                <a:r>
                  <a:rPr lang="en-US" sz="1800" dirty="0">
                    <a:latin typeface="Source Sans Pro"/>
                    <a:ea typeface="Source Sans Pro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</m:oMath>
                </a14:m>
                <a:r>
                  <a:rPr lang="en-US" sz="1800" dirty="0">
                    <a:latin typeface="Source Sans Pro"/>
                    <a:ea typeface="Source Sans Pro"/>
                  </a:rPr>
                  <a:t> not required!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4A62F2-11F4-1103-2F4B-155570F7C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194" y="3471007"/>
                <a:ext cx="4003468" cy="369332"/>
              </a:xfrm>
              <a:prstGeom prst="rect">
                <a:avLst/>
              </a:prstGeom>
              <a:blipFill>
                <a:blip r:embed="rId9"/>
                <a:stretch>
                  <a:fillRect l="-1262" t="-6667" r="-31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70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A250-B482-01C5-E5D3-AF89145F3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B134-327B-0941-EFA2-626FD1C1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Needham-Schroeder Public Key Protocol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E1111-4D49-F123-B866-CAE0AA82D56B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4D4388-86DE-04F0-3360-B41887727197}"/>
                  </a:ext>
                </a:extLst>
              </p:cNvPr>
              <p:cNvSpPr txBox="1"/>
              <p:nvPr/>
            </p:nvSpPr>
            <p:spPr>
              <a:xfrm>
                <a:off x="2015701" y="5169962"/>
                <a:ext cx="49405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latin typeface="Source Sans Pro"/>
                    <a:ea typeface="Source Sans Pro"/>
                  </a:rPr>
                  <a:t>Using a triple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⟨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⟩</m:t>
                    </m:r>
                  </m:oMath>
                </a14:m>
                <a:r>
                  <a:rPr lang="en-US" sz="1800" dirty="0">
                    <a:latin typeface="Source Sans Pro"/>
                    <a:ea typeface="Source Sans Pro"/>
                  </a:rPr>
                  <a:t> prevents the attack.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4D4388-86DE-04F0-3360-B41887727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701" y="5169962"/>
                <a:ext cx="4940580" cy="369332"/>
              </a:xfrm>
              <a:prstGeom prst="rect">
                <a:avLst/>
              </a:prstGeom>
              <a:blipFill>
                <a:blip r:embed="rId2"/>
                <a:stretch>
                  <a:fillRect l="-102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756B429F-7074-2761-2461-E28DCEBC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0" t="451" r="1260" b="301"/>
          <a:stretch>
            <a:fillRect/>
          </a:stretch>
        </p:blipFill>
        <p:spPr>
          <a:xfrm>
            <a:off x="1580991" y="1966673"/>
            <a:ext cx="7905563" cy="32032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EF90065-7AAE-0B0A-B959-AA669B120547}"/>
              </a:ext>
            </a:extLst>
          </p:cNvPr>
          <p:cNvSpPr/>
          <p:nvPr/>
        </p:nvSpPr>
        <p:spPr>
          <a:xfrm>
            <a:off x="2714072" y="3868102"/>
            <a:ext cx="840011" cy="350216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E2DBD6-6C45-4D2F-4160-D11CF87EA503}"/>
                  </a:ext>
                </a:extLst>
              </p:cNvPr>
              <p:cNvSpPr txBox="1"/>
              <p:nvPr/>
            </p:nvSpPr>
            <p:spPr>
              <a:xfrm>
                <a:off x="2015701" y="5539294"/>
                <a:ext cx="49405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latin typeface="Source Sans Pro"/>
                    <a:ea typeface="Source Sans Pro"/>
                  </a:rPr>
                  <a:t>What about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⟨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𝐴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⟨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Source Sans Pro"/>
                          </a:rPr>
                          <m:t>𝐵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𝐵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Source Sans Pro"/>
                      </a:rPr>
                      <m:t>⟩⟩</m:t>
                    </m:r>
                  </m:oMath>
                </a14:m>
                <a:r>
                  <a:rPr lang="en-US" sz="1800" dirty="0">
                    <a:latin typeface="Source Sans Pro"/>
                    <a:ea typeface="Source Sans Pro"/>
                  </a:rPr>
                  <a:t>? </a:t>
                </a:r>
                <a:r>
                  <a:rPr lang="en-US" sz="1800" dirty="0">
                    <a:solidFill>
                      <a:schemeClr val="accent6">
                        <a:lumMod val="75000"/>
                      </a:schemeClr>
                    </a:solidFill>
                    <a:latin typeface="Source Sans Pro"/>
                    <a:ea typeface="Source Sans Pro"/>
                  </a:rPr>
                  <a:t>Insecure!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E2DBD6-6C45-4D2F-4160-D11CF87EA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701" y="5539294"/>
                <a:ext cx="4940580" cy="369332"/>
              </a:xfrm>
              <a:prstGeom prst="rect">
                <a:avLst/>
              </a:prstGeom>
              <a:blipFill>
                <a:blip r:embed="rId4"/>
                <a:stretch>
                  <a:fillRect l="-1026" t="-1000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4272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Type Confusion Attack on Needham-Schroeder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6FA-B668-1032-DAC6-3AF7A74F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000000"/>
              </a:solidFill>
              <a:latin typeface="Source Sans Pro"/>
              <a:ea typeface="Source Sans Pro"/>
            </a:endParaRPr>
          </a:p>
          <a:p>
            <a:endParaRPr lang="en-US" dirty="0">
              <a:solidFill>
                <a:srgbClr val="3B7F23"/>
              </a:solidFill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08582E-01FA-FD95-F368-79D76573B791}"/>
                  </a:ext>
                </a:extLst>
              </p:cNvPr>
              <p:cNvSpPr txBox="1"/>
              <p:nvPr/>
            </p:nvSpPr>
            <p:spPr>
              <a:xfrm>
                <a:off x="951263" y="1728137"/>
                <a:ext cx="35658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𝑃𝑘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08582E-01FA-FD95-F368-79D76573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3" y="1728137"/>
                <a:ext cx="3565848" cy="369332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685A1B-0335-A39A-55B3-80572169DC60}"/>
                  </a:ext>
                </a:extLst>
              </p:cNvPr>
              <p:cNvSpPr txBox="1"/>
              <p:nvPr/>
            </p:nvSpPr>
            <p:spPr>
              <a:xfrm>
                <a:off x="4364710" y="1728137"/>
                <a:ext cx="41047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,⟨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⟩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𝑃𝑘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685A1B-0335-A39A-55B3-80572169D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710" y="1728137"/>
                <a:ext cx="4104713" cy="369332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B88C85-915A-1C44-215B-4B09A568FE38}"/>
                  </a:ext>
                </a:extLst>
              </p:cNvPr>
              <p:cNvSpPr txBox="1"/>
              <p:nvPr/>
            </p:nvSpPr>
            <p:spPr>
              <a:xfrm>
                <a:off x="8265864" y="1728137"/>
                <a:ext cx="3181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𝑃𝑘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B88C85-915A-1C44-215B-4B09A568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5864" y="1728137"/>
                <a:ext cx="3181127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diagram of a graph&#10;&#10;Description automatically generated">
            <a:extLst>
              <a:ext uri="{FF2B5EF4-FFF2-40B4-BE49-F238E27FC236}">
                <a16:creationId xmlns:a16="http://schemas.microsoft.com/office/drawing/2014/main" id="{00C21EE1-30BD-07A2-3ECD-A230832170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488" y="2260677"/>
            <a:ext cx="8744674" cy="375307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A4279A4-74A9-BC0C-2536-FCBE23E16BE3}"/>
              </a:ext>
            </a:extLst>
          </p:cNvPr>
          <p:cNvSpPr/>
          <p:nvPr/>
        </p:nvSpPr>
        <p:spPr>
          <a:xfrm>
            <a:off x="2812117" y="3783852"/>
            <a:ext cx="4055408" cy="98107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C3DB54-EC6A-EC9B-46EF-2E5E414A27C0}"/>
              </a:ext>
            </a:extLst>
          </p:cNvPr>
          <p:cNvSpPr txBox="1"/>
          <p:nvPr/>
        </p:nvSpPr>
        <p:spPr>
          <a:xfrm>
            <a:off x="272383" y="3783852"/>
            <a:ext cx="253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Source Sans Pro"/>
                <a:ea typeface="Source Sans Pro"/>
              </a:rPr>
              <a:t>Response is confused as an  initiation!</a:t>
            </a:r>
          </a:p>
        </p:txBody>
      </p:sp>
    </p:spTree>
    <p:extLst>
      <p:ext uri="{BB962C8B-B14F-4D97-AF65-F5344CB8AC3E}">
        <p14:creationId xmlns:p14="http://schemas.microsoft.com/office/powerpoint/2010/main" val="13751810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5FCB-F14C-BE6D-826F-25E1908B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D7C5-F359-3F0A-EA4F-659E6E8D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Type Confusion Attack on Needham-Schroeder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96E6F-7265-8B9B-9B43-BDB11868BFEF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08582E-01FA-FD95-F368-79D76573B791}"/>
                  </a:ext>
                </a:extLst>
              </p:cNvPr>
              <p:cNvSpPr txBox="1"/>
              <p:nvPr/>
            </p:nvSpPr>
            <p:spPr>
              <a:xfrm>
                <a:off x="951263" y="1728137"/>
                <a:ext cx="35658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𝑃𝑘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08582E-01FA-FD95-F368-79D76573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63" y="1728137"/>
                <a:ext cx="3565848" cy="369332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685A1B-0335-A39A-55B3-80572169DC60}"/>
                  </a:ext>
                </a:extLst>
              </p:cNvPr>
              <p:cNvSpPr txBox="1"/>
              <p:nvPr/>
            </p:nvSpPr>
            <p:spPr>
              <a:xfrm>
                <a:off x="4364710" y="1728137"/>
                <a:ext cx="41047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,⟨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⟩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𝑃𝑘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685A1B-0335-A39A-55B3-80572169D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710" y="1728137"/>
                <a:ext cx="4104713" cy="369332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B88C85-915A-1C44-215B-4B09A568FE38}"/>
                  </a:ext>
                </a:extLst>
              </p:cNvPr>
              <p:cNvSpPr txBox="1"/>
              <p:nvPr/>
            </p:nvSpPr>
            <p:spPr>
              <a:xfrm>
                <a:off x="8265864" y="1728137"/>
                <a:ext cx="3181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𝑃𝑘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B88C85-915A-1C44-215B-4B09A568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5864" y="1728137"/>
                <a:ext cx="3181127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6CCC7C4-D8A2-AAE6-51A0-EF613A832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93" y="214153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First and second message are unifiable (not so with the triple)</a:t>
            </a:r>
          </a:p>
          <a:p>
            <a:r>
              <a:rPr lang="en-US" dirty="0">
                <a:latin typeface="Source Sans Pro"/>
                <a:ea typeface="Source Sans Pro"/>
              </a:rPr>
              <a:t>With more typing information, they do not unify with a well-typed unifier</a:t>
            </a:r>
          </a:p>
          <a:p>
            <a:r>
              <a:rPr lang="en-US" dirty="0">
                <a:latin typeface="Source Sans Pro"/>
                <a:ea typeface="Source Sans Pro"/>
              </a:rPr>
              <a:t>Is this a design-level bug or a parsing bug?</a:t>
            </a:r>
          </a:p>
          <a:p>
            <a:r>
              <a:rPr lang="en-US" dirty="0">
                <a:latin typeface="Source Sans Pro"/>
                <a:ea typeface="Source Sans Pro"/>
              </a:rPr>
              <a:t>Maybe give a Tamarin encoding that rules out the type confusion aspect with an explicit sort annotation on N_A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9393489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6B2E6-AAC7-7031-E954-F3F4B068A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7D96F-1E67-5CCF-6D1E-796842481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5C1B9-E4DF-459B-F285-ACE5151B9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endParaRPr lang="en-US" dirty="0">
              <a:latin typeface="Source Sans Pro"/>
              <a:ea typeface="Source Sans Pro"/>
            </a:endParaRPr>
          </a:p>
          <a:p>
            <a:r>
              <a:rPr lang="en-US" dirty="0">
                <a:latin typeface="Source Sans Pro"/>
                <a:ea typeface="Source Sans Pro"/>
              </a:rPr>
              <a:t>Cryptographic protocol verification background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Threat models and their relationships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Formalizing security protocols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Formalizing security properties</a:t>
            </a:r>
            <a:endParaRPr lang="en-US" dirty="0"/>
          </a:p>
          <a:p>
            <a:r>
              <a:rPr lang="en-US" dirty="0">
                <a:latin typeface="Source Sans Pro"/>
                <a:ea typeface="Source Sans Pro"/>
              </a:rPr>
              <a:t>Breaking, fixing, and breaking Needham-Schroeder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Key compromise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Type confusion!</a:t>
            </a:r>
          </a:p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Making reasoning expressive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 (prior work &amp; open questions)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tractable (prior work &amp; open questions)</a:t>
            </a:r>
          </a:p>
          <a:p>
            <a:r>
              <a:rPr lang="en-US" dirty="0">
                <a:latin typeface="Source Sans Pro"/>
                <a:ea typeface="Source Sans Pro"/>
              </a:rPr>
              <a:t>Discussion &amp; Conclusion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BA45F0-B70D-DE28-C4E3-EA00543AB8F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686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35E0-BEEA-EB4D-28A6-402771B8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0EAD-0D27-1C7F-A0A8-F961B406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Roadmap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88B1-2267-9A92-9381-94A9E59DC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latin typeface="Source Sans Pro"/>
                <a:ea typeface="Source Sans Pro"/>
              </a:rPr>
              <a:t>Objective</a:t>
            </a:r>
          </a:p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Cryptographic protocol verification background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Threat models and their relationships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Security properties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Formalization</a:t>
            </a:r>
            <a:endParaRPr lang="en-US" b="1" dirty="0">
              <a:solidFill>
                <a:schemeClr val="accent6">
                  <a:lumMod val="76000"/>
                </a:schemeClr>
              </a:solidFill>
            </a:endParaRPr>
          </a:p>
          <a:p>
            <a:r>
              <a:rPr lang="en-US" dirty="0">
                <a:latin typeface="Source Sans Pro"/>
                <a:ea typeface="Source Sans Pro"/>
              </a:rPr>
              <a:t>Breaking, fixing, and breaking Needham-Schroeder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Key compromise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Type confusion!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expressive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tractable</a:t>
            </a:r>
          </a:p>
          <a:p>
            <a:r>
              <a:rPr lang="en-US" dirty="0">
                <a:latin typeface="Source Sans Pro"/>
                <a:ea typeface="Source Sans Pro"/>
              </a:rPr>
              <a:t>Discussion &amp; Conclusion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013BD-B792-7885-524D-3E34C6C84D3E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439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B981-B140-C98E-A655-DFDD280D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A17B-322A-09FE-4B4C-0AFA6D7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Making Reasoning Expressive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9A992-E5F6-1706-8A28-87A2E4222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latin typeface="Source Sans Pro"/>
                <a:ea typeface="Source Sans Pro"/>
              </a:rPr>
              <a:t>Equational theories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Either </a:t>
            </a:r>
            <a:r>
              <a:rPr lang="en-US" dirty="0" err="1">
                <a:latin typeface="Source Sans Pro"/>
                <a:ea typeface="Source Sans Pro"/>
              </a:rPr>
              <a:t>spi</a:t>
            </a:r>
            <a:r>
              <a:rPr lang="en-US" dirty="0">
                <a:latin typeface="Source Sans Pro"/>
                <a:ea typeface="Source Sans Pro"/>
              </a:rPr>
              <a:t> calculus to pi calculus, or Mitchell to Tamarin</a:t>
            </a:r>
          </a:p>
          <a:p>
            <a:r>
              <a:rPr lang="en-US" dirty="0">
                <a:latin typeface="Source Sans Pro"/>
                <a:ea typeface="Source Sans Pro"/>
              </a:rPr>
              <a:t>Cryptographic primitives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In MSR world, go from using an encryption rule and a decryption rule to using an equational theory, and borrow techniques from term rewriting because we need congruence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Why not term rewriting for everything? You can! But at a high level, MSR naturally encodes state and TR naturally encodes algebraic properties; here we can get both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How to get XOR to work? Either compile it away [</a:t>
            </a:r>
            <a:r>
              <a:rPr lang="en-US" dirty="0" err="1">
                <a:latin typeface="Source Sans Pro"/>
                <a:ea typeface="Source Sans Pro"/>
              </a:rPr>
              <a:t>ProVerif</a:t>
            </a:r>
            <a:r>
              <a:rPr lang="en-US" dirty="0">
                <a:latin typeface="Source Sans Pro"/>
                <a:ea typeface="Source Sans Pro"/>
              </a:rPr>
              <a:t>], or partition the equational theory one part that is convergent and another part with decidable (&amp; efficient) unification </a:t>
            </a:r>
          </a:p>
          <a:p>
            <a:r>
              <a:rPr lang="en-US" dirty="0">
                <a:latin typeface="Source Sans Pro"/>
                <a:ea typeface="Source Sans Pro"/>
              </a:rPr>
              <a:t>Arithmetic</a:t>
            </a:r>
          </a:p>
          <a:p>
            <a:r>
              <a:rPr lang="en-US" dirty="0">
                <a:latin typeface="Source Sans Pro"/>
                <a:ea typeface="Source Sans Pro"/>
              </a:rPr>
              <a:t>Open Q: Efficient theory reasoning for cryptographic verification?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ED43B0-8ED7-4691-34DD-D6722F7073D1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237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79061-DBE1-521F-0A98-228D11553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897A-6C8D-C8F5-E34E-1C4FCF97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39524-62D8-EAA7-21B2-F034F4C30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endParaRPr lang="en-US" dirty="0">
              <a:latin typeface="Source Sans Pro"/>
              <a:ea typeface="Source Sans Pro"/>
            </a:endParaRPr>
          </a:p>
          <a:p>
            <a:r>
              <a:rPr lang="en-US" dirty="0">
                <a:latin typeface="Source Sans Pro"/>
                <a:ea typeface="Source Sans Pro"/>
              </a:rPr>
              <a:t>Cryptographic protocol verification background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Threat models and their relationships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Formalizing security protocols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Formalizing security properties</a:t>
            </a:r>
            <a:endParaRPr lang="en-US" dirty="0"/>
          </a:p>
          <a:p>
            <a:r>
              <a:rPr lang="en-US" dirty="0">
                <a:latin typeface="Source Sans Pro"/>
                <a:ea typeface="Source Sans Pro"/>
              </a:rPr>
              <a:t>Breaking, fixing, and breaking Needham-Schroeder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Key compromise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Type confusion!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expressive (prior work &amp; open questions)</a:t>
            </a:r>
          </a:p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Making reasoning tractable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(prior work &amp; open questions)</a:t>
            </a:r>
          </a:p>
          <a:p>
            <a:r>
              <a:rPr lang="en-US" dirty="0">
                <a:latin typeface="Source Sans Pro"/>
                <a:ea typeface="Source Sans Pro"/>
              </a:rPr>
              <a:t>Discussion &amp; Conclusion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1D046-F617-E8D9-BC2E-1F82D74F38C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857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35E0-BEEA-EB4D-28A6-402771B8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0EAD-0D27-1C7F-A0A8-F961B406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Roadmap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88B1-2267-9A92-9381-94A9E59DC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latin typeface="Source Sans Pro"/>
                <a:ea typeface="Source Sans Pro"/>
              </a:rPr>
              <a:t>Objective</a:t>
            </a:r>
          </a:p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Cryptographic protocol verification background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Threat models and their relationships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Security properties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Formalization</a:t>
            </a:r>
            <a:endParaRPr lang="en-US" b="1" dirty="0">
              <a:solidFill>
                <a:schemeClr val="accent6">
                  <a:lumMod val="76000"/>
                </a:schemeClr>
              </a:solidFill>
            </a:endParaRPr>
          </a:p>
          <a:p>
            <a:r>
              <a:rPr lang="en-US" dirty="0">
                <a:latin typeface="Source Sans Pro"/>
                <a:ea typeface="Source Sans Pro"/>
              </a:rPr>
              <a:t>Breaking, fixing, and breaking Needham-Schroeder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Key compromise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Type confusion!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expressive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tractable</a:t>
            </a:r>
          </a:p>
          <a:p>
            <a:r>
              <a:rPr lang="en-US" dirty="0">
                <a:latin typeface="Source Sans Pro"/>
                <a:ea typeface="Source Sans Pro"/>
              </a:rPr>
              <a:t>Discussion &amp; Conclusion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013BD-B792-7885-524D-3E34C6C84D3E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889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EAC4-1DFE-5842-3E55-FE2B4F00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37C6-935D-A904-71A1-664F47E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Making Reasoning Tractable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66E0-3AE2-538B-2897-FC68DF25B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Strong typing assumption</a:t>
            </a:r>
          </a:p>
          <a:p>
            <a:r>
              <a:rPr lang="en-US" dirty="0">
                <a:latin typeface="Source Sans Pro"/>
                <a:ea typeface="Source Sans Pro"/>
              </a:rPr>
              <a:t>It is not sound. When can it be sound? Does this help? (Kind of, but doesn't give decidability)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Typing protocols for free</a:t>
            </a:r>
          </a:p>
          <a:p>
            <a:r>
              <a:rPr lang="en-US" dirty="0">
                <a:latin typeface="Source Sans Pro"/>
                <a:ea typeface="Source Sans Pro"/>
              </a:rPr>
              <a:t>How to regain decidability? Bound *both* data items and term depth</a:t>
            </a:r>
          </a:p>
          <a:p>
            <a:r>
              <a:rPr lang="en-US" dirty="0">
                <a:latin typeface="Source Sans Pro"/>
                <a:ea typeface="Source Sans Pro"/>
              </a:rPr>
              <a:t>Reasoning compositionally?</a:t>
            </a:r>
          </a:p>
          <a:p>
            <a:pPr lvl="1"/>
            <a:r>
              <a:rPr lang="en-US" dirty="0">
                <a:latin typeface="Source Sans Pro"/>
                <a:ea typeface="Source Sans Pro"/>
              </a:rPr>
              <a:t>Tamarin and </a:t>
            </a:r>
            <a:r>
              <a:rPr lang="en-US" dirty="0" err="1">
                <a:latin typeface="Source Sans Pro"/>
                <a:ea typeface="Source Sans Pro"/>
              </a:rPr>
              <a:t>ProVerif</a:t>
            </a:r>
            <a:r>
              <a:rPr lang="en-US" dirty="0">
                <a:latin typeface="Source Sans Pro"/>
                <a:ea typeface="Source Sans Pro"/>
              </a:rPr>
              <a:t> and inherently un-compositional…</a:t>
            </a:r>
          </a:p>
          <a:p>
            <a:pPr lvl="1"/>
            <a:r>
              <a:rPr lang="en-US" dirty="0">
                <a:latin typeface="Source Sans Pro"/>
                <a:ea typeface="Source Sans Pro"/>
              </a:rPr>
              <a:t>Compositional techniques are in the tradition of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security by typing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EAD176-DC40-BE52-F0D6-AC05A7A40593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056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F7AC4-7B65-E57D-B591-30635793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02FA7-CDA5-A73A-A21C-73483A4A0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8AD0F-4517-B249-7CE9-91AC65371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endParaRPr lang="en-US" dirty="0">
              <a:latin typeface="Source Sans Pro"/>
              <a:ea typeface="Source Sans Pro"/>
            </a:endParaRPr>
          </a:p>
          <a:p>
            <a:r>
              <a:rPr lang="en-US" dirty="0">
                <a:latin typeface="Source Sans Pro"/>
                <a:ea typeface="Source Sans Pro"/>
              </a:rPr>
              <a:t>Cryptographic protocol verification background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Threat models and their relationships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Formalizing security protocols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Formalizing security properties</a:t>
            </a:r>
            <a:endParaRPr lang="en-US" dirty="0"/>
          </a:p>
          <a:p>
            <a:r>
              <a:rPr lang="en-US" dirty="0">
                <a:latin typeface="Source Sans Pro"/>
                <a:ea typeface="Source Sans Pro"/>
              </a:rPr>
              <a:t>Breaking, fixing, and breaking Needham-Schroeder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Key compromise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Type confusion!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expressive (prior work &amp; open questions)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tractable (prior work &amp; open questions)</a:t>
            </a:r>
          </a:p>
          <a:p>
            <a:r>
              <a:rPr lang="en-US" b="1" dirty="0">
                <a:solidFill>
                  <a:schemeClr val="accent6">
                    <a:lumMod val="76000"/>
                  </a:schemeClr>
                </a:solidFill>
                <a:latin typeface="Source Sans Pro"/>
                <a:ea typeface="Source Sans Pro"/>
              </a:rPr>
              <a:t>Discussion &amp; Conclusion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A939B8-2E69-9CDC-CE8A-344679948D9E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279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35E0-BEEA-EB4D-28A6-402771B8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0EAD-0D27-1C7F-A0A8-F961B406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Roadmap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88B1-2267-9A92-9381-94A9E59DC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latin typeface="Source Sans Pro"/>
                <a:ea typeface="Source Sans Pro"/>
              </a:rPr>
              <a:t>Objective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Cryptographic protocol verification background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Threat models and their relationships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Formalizing security protocols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Formalizing security properties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>
                <a:latin typeface="Source Sans Pro"/>
                <a:ea typeface="Source Sans Pro"/>
              </a:rPr>
              <a:t>Breaking, fixing, and breaking Needham-Schroeder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Key compromise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Type confusion!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expressive</a:t>
            </a:r>
          </a:p>
          <a:p>
            <a:r>
              <a:rPr lang="en-US" dirty="0">
                <a:latin typeface="Source Sans Pro"/>
                <a:ea typeface="Source Sans Pro"/>
              </a:rPr>
              <a:t>Making reasoning tractable</a:t>
            </a:r>
          </a:p>
          <a:p>
            <a:r>
              <a:rPr lang="en-US" dirty="0">
                <a:latin typeface="Source Sans Pro"/>
                <a:ea typeface="Source Sans Pro"/>
              </a:rPr>
              <a:t>Discussion &amp; Conclusion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013BD-B792-7885-524D-3E34C6C84D3E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160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Discussion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Why compositional reasoning (within a single protocol) might be feasible in practice</a:t>
            </a:r>
          </a:p>
          <a:p>
            <a:r>
              <a:rPr lang="en-US" dirty="0">
                <a:latin typeface="Source Sans Pro"/>
                <a:ea typeface="Source Sans Pro"/>
              </a:rPr>
              <a:t>Why theory reasoning might be feasible in practice</a:t>
            </a:r>
          </a:p>
          <a:p>
            <a:r>
              <a:rPr lang="en-US" dirty="0">
                <a:latin typeface="Source Sans Pro"/>
                <a:ea typeface="Source Sans Pro"/>
              </a:rPr>
              <a:t>Why recovering interactivity might be feasible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309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Stuff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511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67D0A9E-0BD0-5468-EE66-F1B353CE5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latin typeface="Source Sans Pro"/>
                <a:ea typeface="Source Sans Pro"/>
              </a:rPr>
              <a:t>Thanks! Questions?</a:t>
            </a:r>
          </a:p>
          <a:p>
            <a:endParaRPr lang="en-US" dirty="0"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0469430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Appendix: Tamarin Property Specification Language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Language syntax and semantics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63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Appendix: CCSA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latin typeface="Source Sans Pro"/>
                <a:ea typeface="Source Sans Pro"/>
              </a:rPr>
              <a:t>C</a:t>
            </a:r>
            <a:r>
              <a:rPr lang="en-US" dirty="0" err="1">
                <a:latin typeface="Source Sans Pro"/>
                <a:ea typeface="Source Sans Pro"/>
              </a:rPr>
              <a:t>omputionally</a:t>
            </a:r>
            <a:r>
              <a:rPr lang="en-US" dirty="0">
                <a:latin typeface="Source Sans Pro"/>
                <a:ea typeface="Source Sans Pro"/>
              </a:rPr>
              <a:t> </a:t>
            </a:r>
            <a:r>
              <a:rPr lang="en-US" b="1" dirty="0">
                <a:latin typeface="Source Sans Pro"/>
                <a:ea typeface="Source Sans Pro"/>
              </a:rPr>
              <a:t>c</a:t>
            </a:r>
            <a:r>
              <a:rPr lang="en-US" dirty="0">
                <a:latin typeface="Source Sans Pro"/>
                <a:ea typeface="Source Sans Pro"/>
              </a:rPr>
              <a:t>omplete </a:t>
            </a:r>
            <a:r>
              <a:rPr lang="en-US" b="1" dirty="0">
                <a:latin typeface="Source Sans Pro"/>
                <a:ea typeface="Source Sans Pro"/>
              </a:rPr>
              <a:t>s</a:t>
            </a:r>
            <a:r>
              <a:rPr lang="en-US" dirty="0">
                <a:latin typeface="Source Sans Pro"/>
                <a:ea typeface="Source Sans Pro"/>
              </a:rPr>
              <a:t>ymbolic </a:t>
            </a:r>
            <a:r>
              <a:rPr lang="en-US" b="1" dirty="0">
                <a:latin typeface="Source Sans Pro"/>
                <a:ea typeface="Source Sans Pro"/>
              </a:rPr>
              <a:t>a</a:t>
            </a:r>
            <a:r>
              <a:rPr lang="en-US" dirty="0">
                <a:latin typeface="Source Sans Pro"/>
                <a:ea typeface="Source Sans Pro"/>
              </a:rPr>
              <a:t>ttacker 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ource Sans Pro"/>
                <a:ea typeface="Source Sans Pro"/>
              </a:rPr>
              <a:t>CCSA</a:t>
            </a:r>
            <a:r>
              <a:rPr lang="en-US" dirty="0">
                <a:latin typeface="Source Sans Pro"/>
                <a:ea typeface="Source Sans Pro"/>
              </a:rPr>
              <a:t>)</a:t>
            </a:r>
          </a:p>
          <a:p>
            <a:r>
              <a:rPr lang="en-US" dirty="0">
                <a:latin typeface="Source Sans Pro"/>
                <a:ea typeface="Source Sans Pro"/>
              </a:rPr>
              <a:t>Fundamental tradeoffs </a:t>
            </a:r>
          </a:p>
          <a:p>
            <a:pPr lvl="1"/>
            <a:r>
              <a:rPr lang="en-US" dirty="0">
                <a:latin typeface="Source Sans Pro"/>
                <a:ea typeface="Source Sans Pro"/>
              </a:rPr>
              <a:t>You can reason with full precision but lose automation (computational)</a:t>
            </a:r>
          </a:p>
          <a:p>
            <a:pPr lvl="1"/>
            <a:r>
              <a:rPr lang="en-US" dirty="0">
                <a:latin typeface="Source Sans Pro"/>
                <a:ea typeface="Source Sans Pro"/>
              </a:rPr>
              <a:t>You can make simplifying assumptions but lose proof soundness (symbolic)</a:t>
            </a:r>
          </a:p>
          <a:p>
            <a:pPr lvl="1"/>
            <a:r>
              <a:rPr lang="en-US" dirty="0">
                <a:latin typeface="Source Sans Pro"/>
                <a:ea typeface="Source Sans Pro"/>
              </a:rPr>
              <a:t>You can maintain automation and proof soundness but lose attack soundness (CCSA) (proof soundness arguably more important; but sometimes a lower bar is better) </a:t>
            </a:r>
          </a:p>
          <a:p>
            <a:r>
              <a:rPr lang="en-US" dirty="0">
                <a:latin typeface="Source Sans Pro"/>
                <a:ea typeface="Source Sans Pro"/>
              </a:rPr>
              <a:t>BC logic, </a:t>
            </a:r>
            <a:r>
              <a:rPr lang="en-US" dirty="0" err="1">
                <a:latin typeface="Source Sans Pro"/>
                <a:ea typeface="Source Sans Pro"/>
              </a:rPr>
              <a:t>subterm</a:t>
            </a:r>
            <a:r>
              <a:rPr lang="en-US" dirty="0">
                <a:latin typeface="Source Sans Pro"/>
                <a:ea typeface="Source Sans Pro"/>
              </a:rPr>
              <a:t> reasoning/eval predicate and </a:t>
            </a:r>
            <a:r>
              <a:rPr lang="en-US" dirty="0" err="1">
                <a:latin typeface="Source Sans Pro"/>
                <a:ea typeface="Source Sans Pro"/>
              </a:rPr>
              <a:t>axiomation</a:t>
            </a:r>
            <a:r>
              <a:rPr lang="en-US" dirty="0">
                <a:latin typeface="Source Sans Pro"/>
                <a:ea typeface="Source Sans Pro"/>
              </a:rPr>
              <a:t>, cryptographic axioms, and so 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480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F837-3478-AD04-BD2B-132A90BA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F69A-6D95-337C-7195-5237D2D2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6000"/>
                    <a:lumOff val="24000"/>
                  </a:schemeClr>
                </a:solidFill>
                <a:latin typeface="Source Sans Pro"/>
                <a:ea typeface="Source Sans Pro"/>
              </a:rPr>
              <a:t>Appendix: BAN Logic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6950D-385F-A98D-531F-5975D69E3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ource Sans Pro"/>
                <a:ea typeface="Source Sans Pro"/>
              </a:rPr>
              <a:t>Acronym</a:t>
            </a:r>
          </a:p>
          <a:p>
            <a:r>
              <a:rPr lang="en-US" dirty="0">
                <a:latin typeface="Source Sans Pro"/>
                <a:ea typeface="Source Sans Pro"/>
              </a:rPr>
              <a:t>Missed Needham-Schroeder bug (analysis in paper that introduced the logic!)</a:t>
            </a:r>
          </a:p>
          <a:p>
            <a:r>
              <a:rPr lang="en-US" dirty="0">
                <a:latin typeface="Source Sans Pro"/>
                <a:ea typeface="Source Sans Pro"/>
              </a:rPr>
              <a:t>Relies on manual annotations of assumptions at each protocol step</a:t>
            </a:r>
          </a:p>
          <a:p>
            <a:r>
              <a:rPr lang="en-US" dirty="0">
                <a:latin typeface="Source Sans Pro"/>
                <a:ea typeface="Source Sans Pro"/>
              </a:rPr>
              <a:t>Shifts adversarial reasoning largely from the logic to the user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6A444-A5CF-77BC-EE8B-EE44E5F16D15}"/>
              </a:ext>
            </a:extLst>
          </p:cNvPr>
          <p:cNvSpPr/>
          <p:nvPr/>
        </p:nvSpPr>
        <p:spPr>
          <a:xfrm>
            <a:off x="951263" y="1413082"/>
            <a:ext cx="10289061" cy="10473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986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628D-B4CD-4C8A-B76A-13155678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ource Sans Pro"/>
                <a:ea typeface="Source Sans Pro"/>
              </a:rPr>
              <a:t>Things to discuss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115ED-9912-DA77-67F5-5CDAA5970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latin typeface="Source Sans Pro"/>
                <a:ea typeface="Source Sans Pro"/>
              </a:rPr>
              <a:t>Could also talk about BAN and why it didn't work very well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Requires manual annotations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Doesn't reason about adversarial actions – originally sold as a benefit, but it essentially shifts adversarial reasoning from the logic to the user, which is error-prone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Public key Needham-Schroeder is BAN-secure! (check this, looks like analysis in the original paper)</a:t>
            </a:r>
          </a:p>
          <a:p>
            <a:r>
              <a:rPr lang="en-US" dirty="0">
                <a:latin typeface="Source Sans Pro"/>
                <a:ea typeface="Source Sans Pro"/>
              </a:rPr>
              <a:t>Already in report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Type confusion attacks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latin typeface="Source Sans Pro"/>
                <a:ea typeface="Source Sans Pro"/>
              </a:rPr>
              <a:t>Relationships between semantics</a:t>
            </a:r>
          </a:p>
          <a:p>
            <a:r>
              <a:rPr lang="en-US" dirty="0">
                <a:latin typeface="Source Sans Pro"/>
                <a:ea typeface="Source Sans Pro"/>
              </a:rPr>
              <a:t>Give more details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Strong typing assumption, XOR vs pairing/projection</a:t>
            </a:r>
            <a:endParaRPr lang="en-US" sz="2200" dirty="0">
              <a:latin typeface="Source Sans Pro"/>
              <a:ea typeface="Source Sans Pr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dirty="0">
                <a:latin typeface="Source Sans Pro"/>
                <a:ea typeface="Source Sans Pro"/>
              </a:rPr>
              <a:t>Reveal scenarios (required for Needham-Schroeder attack); give updated security properties</a:t>
            </a:r>
            <a:endParaRPr lang="en-US" dirty="0">
              <a:latin typeface="Source Sans Pro"/>
              <a:ea typeface="Source Sans Pr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Example(s) where secrecy labels are over conservative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Symbolic model not strictly weaker than computational model</a:t>
            </a:r>
          </a:p>
          <a:p>
            <a:r>
              <a:rPr lang="en-US" dirty="0">
                <a:latin typeface="Source Sans Pro"/>
                <a:ea typeface="Source Sans Pro"/>
              </a:rPr>
              <a:t>Not in report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Protocols involving arithmetic; how Tamarin models arithmetic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Source Sans Pro"/>
                <a:ea typeface="Source Sans Pro"/>
              </a:rPr>
              <a:t>Some tidbits about CCSA – overview of the BC logic, why automated reasoning about it is hard, cryptographic axioms, and spurious counterexamples</a:t>
            </a:r>
          </a:p>
        </p:txBody>
      </p:sp>
    </p:spTree>
    <p:extLst>
      <p:ext uri="{BB962C8B-B14F-4D97-AF65-F5344CB8AC3E}">
        <p14:creationId xmlns:p14="http://schemas.microsoft.com/office/powerpoint/2010/main" val="1572822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408</TotalTime>
  <Words>3836</Words>
  <Application>Microsoft Macintosh PowerPoint</Application>
  <PresentationFormat>Widescreen</PresentationFormat>
  <Paragraphs>541</Paragraphs>
  <Slides>72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2" baseType="lpstr">
      <vt:lpstr>Aptos</vt:lpstr>
      <vt:lpstr>Aptos Display</vt:lpstr>
      <vt:lpstr>Arial</vt:lpstr>
      <vt:lpstr>Calibri</vt:lpstr>
      <vt:lpstr>Cambria Math</vt:lpstr>
      <vt:lpstr>Courier New</vt:lpstr>
      <vt:lpstr>Courier New,monospace</vt:lpstr>
      <vt:lpstr>Source Sans Pro</vt:lpstr>
      <vt:lpstr>Wingdings</vt:lpstr>
      <vt:lpstr>Office Theme</vt:lpstr>
      <vt:lpstr>Automated Reasoning for Security Protocols</vt:lpstr>
      <vt:lpstr>Introduction &amp; Motivation</vt:lpstr>
      <vt:lpstr>Introduction &amp; Motivation</vt:lpstr>
      <vt:lpstr>Introduction &amp; Motivation</vt:lpstr>
      <vt:lpstr>Roadmap</vt:lpstr>
      <vt:lpstr>Roadmap</vt:lpstr>
      <vt:lpstr>Objectives</vt:lpstr>
      <vt:lpstr>Roadmap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Primitives &amp; Protocols</vt:lpstr>
      <vt:lpstr>Mathematical Cryptography: Security of Primitives</vt:lpstr>
      <vt:lpstr>Mathematical Cryptography: Security of Protocols</vt:lpstr>
      <vt:lpstr>Mathematical Cryptography: Security of Protocols</vt:lpstr>
      <vt:lpstr>Mathematical Cryptography: Security of Protocols</vt:lpstr>
      <vt:lpstr>How to make reasoning easier?</vt:lpstr>
      <vt:lpstr>Threat Models</vt:lpstr>
      <vt:lpstr>Symbolic Model</vt:lpstr>
      <vt:lpstr>Symbolic Model</vt:lpstr>
      <vt:lpstr>Symbolic Model</vt:lpstr>
      <vt:lpstr>Symbolic Model</vt:lpstr>
      <vt:lpstr>Symbolic Model</vt:lpstr>
      <vt:lpstr>Formalizing Security Protocols in the Symbolic Model</vt:lpstr>
      <vt:lpstr>Formalizing Security Protocols in the Symbolic Model</vt:lpstr>
      <vt:lpstr>Formalizing Security Protocols in the Symbolic Model</vt:lpstr>
      <vt:lpstr>Formalizing Security Protocols in the Symbolic Model</vt:lpstr>
      <vt:lpstr>Formalizing Security Protocols in the Symbolic Model</vt:lpstr>
      <vt:lpstr>Formalizing Security Protocols in the Symbolic Model</vt:lpstr>
      <vt:lpstr>Formalizing Security Protocols in the Symbolic Model</vt:lpstr>
      <vt:lpstr>Formalizing Security Protocols in the Symbolic Model</vt:lpstr>
      <vt:lpstr>Formalizing Needham-Schroeder</vt:lpstr>
      <vt:lpstr>Formalizing Needham-Schroeder</vt:lpstr>
      <vt:lpstr>Formalizing Needham-Schroeder</vt:lpstr>
      <vt:lpstr>Formalizing Needham-Schroeder</vt:lpstr>
      <vt:lpstr>Formalizing Security Properties in the Symbolic Model</vt:lpstr>
      <vt:lpstr>Formalizing Security Properties in the Symbolic Model</vt:lpstr>
      <vt:lpstr>Formalizing Security Properties in the Symbolic Model</vt:lpstr>
      <vt:lpstr>Formalizing Security Properties in the Symbolic Model</vt:lpstr>
      <vt:lpstr>Formalizing Security Properties in the Symbolic Model</vt:lpstr>
      <vt:lpstr>Formalizing Security Properties in the Symbolic Model</vt:lpstr>
      <vt:lpstr>Automated Property Satisfaction/Violation</vt:lpstr>
      <vt:lpstr>Formalizing Security Properties in the Symbolic Model</vt:lpstr>
      <vt:lpstr>Roadmap</vt:lpstr>
      <vt:lpstr>Needham-Schroeder Public Key Protocol</vt:lpstr>
      <vt:lpstr>Needham-Schroeder Public Key Protocol</vt:lpstr>
      <vt:lpstr>Needham-Schroeder Public Key Protocol</vt:lpstr>
      <vt:lpstr>Needham-Schroeder Public Key Protocol</vt:lpstr>
      <vt:lpstr>First Attack on Needham-Schroeder</vt:lpstr>
      <vt:lpstr>First Attack on Needham-Schroeder</vt:lpstr>
      <vt:lpstr>Needham-Schroeder Public Key Protocol</vt:lpstr>
      <vt:lpstr>Type Confusion Attack on Needham-Schroeder</vt:lpstr>
      <vt:lpstr>Type Confusion Attack on Needham-Schroeder</vt:lpstr>
      <vt:lpstr>Roadmap</vt:lpstr>
      <vt:lpstr>Roadmap</vt:lpstr>
      <vt:lpstr>Making Reasoning Expressive</vt:lpstr>
      <vt:lpstr>Roadmap</vt:lpstr>
      <vt:lpstr>Roadmap</vt:lpstr>
      <vt:lpstr>Making Reasoning Tractable</vt:lpstr>
      <vt:lpstr>Roadmap</vt:lpstr>
      <vt:lpstr>Roadmap</vt:lpstr>
      <vt:lpstr>Discussion</vt:lpstr>
      <vt:lpstr>Conclusion</vt:lpstr>
      <vt:lpstr>PowerPoint Presentation</vt:lpstr>
      <vt:lpstr>Appendix: Tamarin Property Specification Language</vt:lpstr>
      <vt:lpstr>Appendix: CCSA Model</vt:lpstr>
      <vt:lpstr>Appendix: BAN Logic</vt:lpstr>
      <vt:lpstr>Things to discuss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Reasoning for Security Protocols</dc:title>
  <dc:creator/>
  <cp:lastModifiedBy>Lorch, Robert M</cp:lastModifiedBy>
  <cp:revision>746</cp:revision>
  <dcterms:created xsi:type="dcterms:W3CDTF">2026-03-16T17:02:12Z</dcterms:created>
  <dcterms:modified xsi:type="dcterms:W3CDTF">2026-03-19T21:52:45Z</dcterms:modified>
</cp:coreProperties>
</file>